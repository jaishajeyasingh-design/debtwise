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We are thrilled to present FinShield.</a:t>
            </a:r>
          </a:p>
          <a:p>
            <a:r>
              <a:t>Today, every major bank has sophisticated models to predict who is at risk of defaulting. But here is the critical gap: detection is not a solution. What happens AFTER a customer is flagged?</a:t>
            </a:r>
          </a:p>
          <a:p>
            <a:r>
              <a:t>FinShield is an AI-assisted financial distress intervention engine that diagnoses the root cause of distress, computes sustainable affordability, safety-filters interventions, and resolves distress before it leads to default or financial exclusion.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bank's risk model flags a customer as high-risk, what happens next? Today, the answer is usually: wait for 60-90 days of missed payments, charge penalty fees, and send the file to aggressive collections.</a:t>
            </a:r>
          </a:p>
          <a:p>
            <a:r>
              <a:t>This makes no sense. The penalty fees worsen the exact cash-flow issue causing the distress!</a:t>
            </a:r>
          </a:p>
          <a:p>
            <a:r>
              <a:t>The missing piece is an intelligent, responsible intervention layer. FinShield steps in right at the moment of distress to ask: WHY are they struggling, WHAT can they sustainably afford, and WHAT is the safest treatment?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vital to understand what FinShield is NOT. We are not a credit scoring engine, we are not a loan upsell tool, and we are not a generic LLM chatbot.</a:t>
            </a:r>
          </a:p>
          <a:p>
            <a:r>
              <a:t>FinShield operates like a clinical diagnostician. When a patient is sick, a doctor doesn't just assign a sickness score and walk away; they diagnose the specific ailment, measure the vital limits, and prescribe the gentlest, most effective treatment. That is 'Diagnosis Before Treatment'.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FinShield architecture in action.</a:t>
            </a:r>
          </a:p>
          <a:p>
            <a:r>
              <a:t>From the moment high-risk signals appear, the system diagnoses the root cause, calculates sustainable repayment capacity, removes unsafe options through hard constraints, translates the plan via SHAP and Claude into plain English, secures customer consent, and executes safe actions while routing contractual changes to human officers.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under the hood. We use AI where it excels, and deterministic logic where safety is paramount.</a:t>
            </a:r>
          </a:p>
          <a:p>
            <a:r>
              <a:t>XGBoost categorizes the distress into one of 5 archetypes.</a:t>
            </a:r>
          </a:p>
          <a:p>
            <a:r>
              <a:t>SHAP extracts the exact feature attributions explaining the diagnosis.</a:t>
            </a:r>
          </a:p>
          <a:p>
            <a:r>
              <a:t>Crucially, the Repayment Capacity Engine is 100% deterministic math, not ML hallucinations.</a:t>
            </a:r>
          </a:p>
          <a:p>
            <a:r>
              <a:t>Finally, Claude acts strictly as an empathetic translation layer — explaining the math in plain language, without having power to make financial approvals.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banking systems jump straight from doing nothing to aggressive collections or heavy loan restructuring.</a:t>
            </a:r>
          </a:p>
          <a:p>
            <a:r>
              <a:t>FinShield introduces a 7-Level Intervention Ladder. It is strictly ordered by intrusiveness and reversibility.</a:t>
            </a:r>
          </a:p>
          <a:p>
            <a:r>
              <a:t>Level 2 Timing Fixes—like simply adjusting the payment date to match when the customer gets paid—resolve over 30% of cash-flow friction without adding debt or requiring contractual restructuring!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our most important slides. In banking, AI should never have unilateral authority to alter contractual terms, hurt a credit score, or deny services.</a:t>
            </a:r>
          </a:p>
          <a:p>
            <a:r>
              <a:t>We established 3 strict operational tiers:</a:t>
            </a:r>
          </a:p>
          <a:p>
            <a:r>
              <a:t>Tier A allows automated execution of low-risk, reversible actions only AFTER customer consent.</a:t>
            </a:r>
          </a:p>
          <a:p>
            <a:r>
              <a:t>Tier B allows AI to assemble hardship packages, but a human officer must approve.</a:t>
            </a:r>
          </a:p>
          <a:p>
            <a:r>
              <a:t>Tier C strictly prohibits AI from taking punitive, credit-reporting, or adverse legal actions.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standout differentiator. Traditional banking systems love to recommend debt consolidation because it generates fee income.</a:t>
            </a:r>
          </a:p>
          <a:p>
            <a:r>
              <a:t>When FinShield evaluates a debt-overloaded customer, the generation engine might produce a consolidation candidate. BUT our safety layer detects excessive debt burden and rejects it!</a:t>
            </a:r>
          </a:p>
          <a:p>
            <a:r>
              <a:t>It audits WHY it was rejected and serves a safer, debt-free alternative instead.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how Priya experiences FinShield. Priya earns ₹60,000/month with ₹25,000 in loan EMIs. A sudden medical emergency caused her expenses to surge.</a:t>
            </a:r>
          </a:p>
          <a:p>
            <a:r>
              <a:t>Instead of sending threatening texts after she misses a payment, FinShield proactively notices the expense shock.</a:t>
            </a:r>
          </a:p>
          <a:p>
            <a:r>
              <a:t>It shows her calculated sustainable capacity of ₹15,000, offers transparent options, obtains her consent, and monitors her recovery back to health.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bank side, loan officers get an operational dashboard. It separates automated low-risk actions from high-impact cases requiring review.</a:t>
            </a:r>
          </a:p>
          <a:p>
            <a:r>
              <a:t>The What-If Simulator allows officers and customers to test simulated interventions. Notice our transparent disclaimer: we explicitly label these as simulated estimates rather than claiming magical causal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technical stack: FastAPI backend, XGBoost and SHAP for ML, Claude API for natural language translation, and React with Tailwind and Recharts on the frontend.</a:t>
            </a:r>
          </a:p>
          <a:p>
            <a:r>
              <a:t>In the spirit of scientific integrity, we clearly state that our prototype is evaluated on a synthetic financial time-series dataset simulating the 5 distress archetypes, rather than claiming untested live bank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Banks can no longer afford to wait for default before acting.</a:t>
            </a:r>
          </a:p>
          <a:p>
            <a:r>
              <a:t>FinShield shifts banking from 'Detect, Collect, Escalate' to 'Diagnose, Intervene, Recover'.</a:t>
            </a:r>
          </a:p>
          <a:p>
            <a:r>
              <a:t>By pairing machine learning diagnosis with deterministic safety checks and human oversight, FinShield protects both the bank's balance sheet and the customer's financial dignity.</a:t>
            </a:r>
          </a:p>
          <a:p>
            <a:r>
              <a:t>Thank you, and we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37160" cy="3474720"/>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554480"/>
            <a:ext cx="10058400" cy="3840480"/>
          </a:xfrm>
          <a:prstGeom prst="rect">
            <a:avLst/>
          </a:prstGeom>
          <a:noFill/>
        </p:spPr>
        <p:txBody>
          <a:bodyPr wrap="square">
            <a:spAutoFit/>
          </a:bodyPr>
          <a:lstStyle/>
          <a:p>
            <a:pPr>
              <a:spcAft>
                <a:spcPts val="1400"/>
              </a:spcAft>
              <a:defRPr sz="1100" b="1">
                <a:solidFill>
                  <a:srgbClr val="00F0FF"/>
                </a:solidFill>
                <a:latin typeface="Segoe UI"/>
              </a:defRPr>
            </a:pPr>
            <a:r>
              <a:t>HACKATHON EDITION  |  RESPONSIBLE AI IN FINTECH</a:t>
            </a:r>
          </a:p>
          <a:p>
            <a:pPr>
              <a:spcAft>
                <a:spcPts val="800"/>
              </a:spcAft>
              <a:defRPr sz="5400" b="1">
                <a:solidFill>
                  <a:srgbClr val="FFFFFF"/>
                </a:solidFill>
                <a:latin typeface="Segoe UI"/>
              </a:defRPr>
            </a:pPr>
            <a:r>
              <a:t>FinShield</a:t>
            </a:r>
          </a:p>
          <a:p>
            <a:pPr>
              <a:spcAft>
                <a:spcPts val="1400"/>
              </a:spcAft>
              <a:defRPr sz="2200" b="1">
                <a:solidFill>
                  <a:srgbClr val="3A86FF"/>
                </a:solidFill>
                <a:latin typeface="Segoe UI"/>
              </a:defRPr>
            </a:pPr>
            <a:r>
              <a:t>AI-Assisted Financial Distress Intervention Engine</a:t>
            </a:r>
          </a:p>
          <a:p>
            <a:pPr>
              <a:spcAft>
                <a:spcPts val="2400"/>
              </a:spcAft>
              <a:defRPr sz="1400">
                <a:solidFill>
                  <a:srgbClr val="9CA3AF"/>
                </a:solidFill>
                <a:latin typeface="Segoe UI"/>
              </a:defRPr>
            </a:pPr>
            <a:r>
              <a:t>Moving banks from merely detecting high-risk customers to safely and sustainably resolving distress — before default occurs.</a:t>
            </a:r>
          </a:p>
        </p:txBody>
      </p:sp>
      <p:sp>
        <p:nvSpPr>
          <p:cNvPr id="5" name="Rounded Rectangle 4"/>
          <p:cNvSpPr/>
          <p:nvPr/>
        </p:nvSpPr>
        <p:spPr>
          <a:xfrm>
            <a:off x="1097280" y="5303520"/>
            <a:ext cx="3200400" cy="8229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5349240"/>
            <a:ext cx="2926080" cy="731520"/>
          </a:xfrm>
          <a:prstGeom prst="rect">
            <a:avLst/>
          </a:prstGeom>
          <a:noFill/>
        </p:spPr>
        <p:txBody>
          <a:bodyPr wrap="square">
            <a:spAutoFit/>
          </a:bodyPr>
          <a:lstStyle/>
          <a:p>
            <a:pPr>
              <a:defRPr sz="1000" b="1">
                <a:solidFill>
                  <a:srgbClr val="00F0FF"/>
                </a:solidFill>
              </a:defRPr>
            </a:pPr>
            <a:r>
              <a:t>DIAGNOSE</a:t>
            </a:r>
          </a:p>
          <a:p>
            <a:pPr>
              <a:defRPr sz="1000">
                <a:solidFill>
                  <a:srgbClr val="FFFFFF"/>
                </a:solidFill>
              </a:defRPr>
            </a:pPr>
            <a:r>
              <a:t>XGBoost + SHAP Root Cause Analysis</a:t>
            </a:r>
          </a:p>
        </p:txBody>
      </p:sp>
      <p:sp>
        <p:nvSpPr>
          <p:cNvPr id="7" name="Rounded Rectangle 6"/>
          <p:cNvSpPr/>
          <p:nvPr/>
        </p:nvSpPr>
        <p:spPr>
          <a:xfrm>
            <a:off x="4572000" y="5303520"/>
            <a:ext cx="3200400" cy="8229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9160" y="5349240"/>
            <a:ext cx="2926080" cy="731520"/>
          </a:xfrm>
          <a:prstGeom prst="rect">
            <a:avLst/>
          </a:prstGeom>
          <a:noFill/>
        </p:spPr>
        <p:txBody>
          <a:bodyPr wrap="square">
            <a:spAutoFit/>
          </a:bodyPr>
          <a:lstStyle/>
          <a:p>
            <a:pPr>
              <a:defRPr sz="1000" b="1">
                <a:solidFill>
                  <a:srgbClr val="00F0FF"/>
                </a:solidFill>
              </a:defRPr>
            </a:pPr>
            <a:r>
              <a:t>CALCULATE</a:t>
            </a:r>
          </a:p>
          <a:p>
            <a:pPr>
              <a:defRPr sz="1000">
                <a:solidFill>
                  <a:srgbClr val="FFFFFF"/>
                </a:solidFill>
              </a:defRPr>
            </a:pPr>
            <a:r>
              <a:t>Deterministic Repayment Capacity</a:t>
            </a:r>
          </a:p>
        </p:txBody>
      </p:sp>
      <p:sp>
        <p:nvSpPr>
          <p:cNvPr id="9" name="Rounded Rectangle 8"/>
          <p:cNvSpPr/>
          <p:nvPr/>
        </p:nvSpPr>
        <p:spPr>
          <a:xfrm>
            <a:off x="8046719" y="5303520"/>
            <a:ext cx="3200400" cy="8229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5349240"/>
            <a:ext cx="2926080" cy="731520"/>
          </a:xfrm>
          <a:prstGeom prst="rect">
            <a:avLst/>
          </a:prstGeom>
          <a:noFill/>
        </p:spPr>
        <p:txBody>
          <a:bodyPr wrap="square">
            <a:spAutoFit/>
          </a:bodyPr>
          <a:lstStyle/>
          <a:p>
            <a:pPr>
              <a:defRPr sz="1000" b="1">
                <a:solidFill>
                  <a:srgbClr val="00F0FF"/>
                </a:solidFill>
              </a:defRPr>
            </a:pPr>
            <a:r>
              <a:t>INTERVENE</a:t>
            </a:r>
          </a:p>
          <a:p>
            <a:pPr>
              <a:defRPr sz="1000">
                <a:solidFill>
                  <a:srgbClr val="FFFFFF"/>
                </a:solidFill>
              </a:defRPr>
            </a:pPr>
            <a:r>
              <a:t>Safety-Filtered 7-Tier Action Ladder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000" b="1">
                <a:solidFill>
                  <a:srgbClr val="00F0FF"/>
                </a:solidFill>
                <a:latin typeface="Segoe UI"/>
              </a:defRPr>
            </a:pPr>
            <a:r>
              <a:t>THE INDUSTRY DILEMMA</a:t>
            </a:r>
          </a:p>
        </p:txBody>
      </p:sp>
      <p:sp>
        <p:nvSpPr>
          <p:cNvPr id="4" name="TextBox 3"/>
          <p:cNvSpPr txBox="1"/>
          <p:nvPr/>
        </p:nvSpPr>
        <p:spPr>
          <a:xfrm>
            <a:off x="731520" y="713232"/>
            <a:ext cx="10698480" cy="548640"/>
          </a:xfrm>
          <a:prstGeom prst="rect">
            <a:avLst/>
          </a:prstGeom>
          <a:noFill/>
        </p:spPr>
        <p:txBody>
          <a:bodyPr wrap="square" lIns="0" tIns="0" rIns="0" bIns="0">
            <a:spAutoFit/>
          </a:bodyPr>
          <a:lstStyle/>
          <a:p>
            <a:pPr>
              <a:defRPr sz="2200" b="1">
                <a:solidFill>
                  <a:srgbClr val="FFFFFF"/>
                </a:solidFill>
                <a:latin typeface="Segoe UI"/>
              </a:defRPr>
            </a:pPr>
            <a:r>
              <a:t>Banks Know Who Is High-Risk. The Real Crisis Is What Happens Next.</a:t>
            </a:r>
          </a:p>
        </p:txBody>
      </p:sp>
      <p:sp>
        <p:nvSpPr>
          <p:cNvPr id="5" name="TextBox 4"/>
          <p:cNvSpPr txBox="1"/>
          <p:nvPr/>
        </p:nvSpPr>
        <p:spPr>
          <a:xfrm>
            <a:off x="731520" y="1261872"/>
            <a:ext cx="10698480" cy="320040"/>
          </a:xfrm>
          <a:prstGeom prst="rect">
            <a:avLst/>
          </a:prstGeom>
          <a:noFill/>
        </p:spPr>
        <p:txBody>
          <a:bodyPr wrap="square" lIns="0" tIns="0" rIns="0" bIns="0">
            <a:spAutoFit/>
          </a:bodyPr>
          <a:lstStyle/>
          <a:p>
            <a:pPr>
              <a:defRPr sz="1100">
                <a:solidFill>
                  <a:srgbClr val="9CA3AF"/>
                </a:solidFill>
                <a:latin typeface="Segoe UI"/>
              </a:defRPr>
            </a:pPr>
            <a:r>
              <a:t>Risk detection is mature, but the post-flagging intervention workflow remains broken, punitive, and manual.</a:t>
            </a:r>
          </a:p>
        </p:txBody>
      </p:sp>
      <p:sp>
        <p:nvSpPr>
          <p:cNvPr id="6" name="Rounded Rectangle 5"/>
          <p:cNvSpPr/>
          <p:nvPr/>
        </p:nvSpPr>
        <p:spPr>
          <a:xfrm>
            <a:off x="731520" y="1691640"/>
            <a:ext cx="5120640" cy="4480560"/>
          </a:xfrm>
          <a:prstGeom prst="roundRect">
            <a:avLst/>
          </a:prstGeom>
          <a:solidFill>
            <a:srgbClr val="121C3A"/>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754880" cy="4114800"/>
          </a:xfrm>
          <a:prstGeom prst="rect">
            <a:avLst/>
          </a:prstGeom>
          <a:noFill/>
        </p:spPr>
        <p:txBody>
          <a:bodyPr wrap="square">
            <a:spAutoFit/>
          </a:bodyPr>
          <a:lstStyle/>
          <a:p>
            <a:pPr>
              <a:spcAft>
                <a:spcPts val="1200"/>
              </a:spcAft>
              <a:defRPr sz="1200" b="1">
                <a:solidFill>
                  <a:srgbClr val="F43F5E"/>
                </a:solidFill>
              </a:defRPr>
            </a:pPr>
            <a:r>
              <a:t>THE CURRENT REALITY: THE DEFAULT ESCALATOR</a:t>
            </a:r>
          </a:p>
          <a:p>
            <a:pPr>
              <a:defRPr sz="1100" b="1">
                <a:solidFill>
                  <a:srgbClr val="FFFFFF"/>
                </a:solidFill>
              </a:defRPr>
            </a:pPr>
            <a:r>
              <a:t>•  Passive Risk Flagging</a:t>
            </a:r>
          </a:p>
          <a:p>
            <a:pPr>
              <a:spcAft>
                <a:spcPts val="800"/>
              </a:spcAft>
              <a:defRPr sz="1000">
                <a:solidFill>
                  <a:srgbClr val="9CA3AF"/>
                </a:solidFill>
              </a:defRPr>
            </a:pPr>
            <a:r>
              <a:t>    Models output a probability score (PD). Nothing happens until missed payments accumulate.</a:t>
            </a:r>
          </a:p>
          <a:p>
            <a:pPr>
              <a:defRPr sz="1100" b="1">
                <a:solidFill>
                  <a:srgbClr val="FFFFFF"/>
                </a:solidFill>
              </a:defRPr>
            </a:pPr>
            <a:r>
              <a:t>•  Blind Collections Handoff</a:t>
            </a:r>
          </a:p>
          <a:p>
            <a:pPr>
              <a:spcAft>
                <a:spcPts val="800"/>
              </a:spcAft>
              <a:defRPr sz="1000">
                <a:solidFill>
                  <a:srgbClr val="9CA3AF"/>
                </a:solidFill>
              </a:defRPr>
            </a:pPr>
            <a:r>
              <a:t>    Treated as a recovery problem rather than an affordability mismatch. Aggressive notices begin.</a:t>
            </a:r>
          </a:p>
          <a:p>
            <a:pPr>
              <a:defRPr sz="1100" b="1">
                <a:solidFill>
                  <a:srgbClr val="FFFFFF"/>
                </a:solidFill>
              </a:defRPr>
            </a:pPr>
            <a:r>
              <a:t>•  One-Size-Fits-All Penalties</a:t>
            </a:r>
          </a:p>
          <a:p>
            <a:pPr>
              <a:spcAft>
                <a:spcPts val="800"/>
              </a:spcAft>
              <a:defRPr sz="1000">
                <a:solidFill>
                  <a:srgbClr val="9CA3AF"/>
                </a:solidFill>
              </a:defRPr>
            </a:pPr>
            <a:r>
              <a:t>    Late fees and overdraft charges are added, directly worsening the customer's cash-flow crunch.</a:t>
            </a:r>
          </a:p>
          <a:p>
            <a:pPr>
              <a:defRPr sz="1100" b="1">
                <a:solidFill>
                  <a:srgbClr val="FFFFFF"/>
                </a:solidFill>
              </a:defRPr>
            </a:pPr>
            <a:r>
              <a:t>•  Binary Outcome</a:t>
            </a:r>
          </a:p>
          <a:p>
            <a:pPr>
              <a:spcAft>
                <a:spcPts val="800"/>
              </a:spcAft>
              <a:defRPr sz="1000">
                <a:solidFill>
                  <a:srgbClr val="9CA3AF"/>
                </a:solidFill>
              </a:defRPr>
            </a:pPr>
            <a:r>
              <a:t>    Leads directly to loan default, expensive legal recovery, write-offs, and severe financial exclusion.</a:t>
            </a:r>
          </a:p>
        </p:txBody>
      </p:sp>
      <p:sp>
        <p:nvSpPr>
          <p:cNvPr id="8" name="Rounded Rectangle 7"/>
          <p:cNvSpPr/>
          <p:nvPr/>
        </p:nvSpPr>
        <p:spPr>
          <a:xfrm>
            <a:off x="6217920" y="1691640"/>
            <a:ext cx="5212080" cy="4480560"/>
          </a:xfrm>
          <a:prstGeom prst="roundRect">
            <a:avLst/>
          </a:prstGeom>
          <a:solidFill>
            <a:srgbClr val="121C3A"/>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846320" cy="4114800"/>
          </a:xfrm>
          <a:prstGeom prst="rect">
            <a:avLst/>
          </a:prstGeom>
          <a:noFill/>
        </p:spPr>
        <p:txBody>
          <a:bodyPr wrap="square">
            <a:spAutoFit/>
          </a:bodyPr>
          <a:lstStyle/>
          <a:p>
            <a:pPr>
              <a:spcAft>
                <a:spcPts val="1400"/>
              </a:spcAft>
              <a:defRPr sz="1200" b="1">
                <a:solidFill>
                  <a:srgbClr val="00F0FF"/>
                </a:solidFill>
              </a:defRPr>
            </a:pPr>
            <a:r>
              <a:t>THE UNANSWERED INTERVENTION QUESTION</a:t>
            </a:r>
          </a:p>
          <a:p>
            <a:pPr>
              <a:spcAft>
                <a:spcPts val="1600"/>
              </a:spcAft>
              <a:defRPr sz="1300" b="1">
                <a:solidFill>
                  <a:srgbClr val="FFFFFF"/>
                </a:solidFill>
              </a:defRPr>
            </a:pPr>
            <a:r>
              <a:t>“How can a bank responsibly understand WHY a customer is in distress, determine what they can sustainably afford, choose the safest intervention, and act early enough to prevent default?”</a:t>
            </a:r>
          </a:p>
          <a:p>
            <a:pPr>
              <a:spcAft>
                <a:spcPts val="600"/>
              </a:spcAft>
              <a:defRPr sz="1000" b="1">
                <a:solidFill>
                  <a:srgbClr val="9CA3AF"/>
                </a:solidFill>
              </a:defRPr>
            </a:pPr>
            <a:r>
              <a:t>✔  Root-Cause Clarity: Distinguish income drops from timing mismatches or unexpected expense spikes.</a:t>
            </a:r>
          </a:p>
          <a:p>
            <a:pPr>
              <a:spcAft>
                <a:spcPts val="600"/>
              </a:spcAft>
              <a:defRPr sz="1000" b="1">
                <a:solidFill>
                  <a:srgbClr val="9CA3AF"/>
                </a:solidFill>
              </a:defRPr>
            </a:pPr>
            <a:r>
              <a:t>✔  Sustainable Capacity Floor: Transparently calculate true affordability before offering any plan.</a:t>
            </a:r>
          </a:p>
          <a:p>
            <a:pPr>
              <a:spcAft>
                <a:spcPts val="600"/>
              </a:spcAft>
              <a:defRPr sz="1000" b="1">
                <a:solidFill>
                  <a:srgbClr val="9CA3AF"/>
                </a:solidFill>
              </a:defRPr>
            </a:pPr>
            <a:r>
              <a:t>✔  Safety &amp; Friction Filter: Reject predatory refinancing or debt traps that escalate customer burden.</a:t>
            </a:r>
          </a:p>
          <a:p>
            <a:pPr>
              <a:spcAft>
                <a:spcPts val="600"/>
              </a:spcAft>
              <a:defRPr sz="1000" b="1">
                <a:solidFill>
                  <a:srgbClr val="9CA3AF"/>
                </a:solidFill>
              </a:defRPr>
            </a:pPr>
            <a:r>
              <a:t>✔  Empathy &amp; Customer Agency: Provide choice, explainability, and consent instead of forced actions.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000" b="1">
                <a:solidFill>
                  <a:srgbClr val="00F0FF"/>
                </a:solidFill>
                <a:latin typeface="Segoe UI"/>
              </a:defRPr>
            </a:pPr>
            <a:r>
              <a:t>STRATEGIC POSITIONING</a:t>
            </a:r>
          </a:p>
        </p:txBody>
      </p:sp>
      <p:sp>
        <p:nvSpPr>
          <p:cNvPr id="4" name="TextBox 3"/>
          <p:cNvSpPr txBox="1"/>
          <p:nvPr/>
        </p:nvSpPr>
        <p:spPr>
          <a:xfrm>
            <a:off x="731520" y="713232"/>
            <a:ext cx="10698480" cy="548640"/>
          </a:xfrm>
          <a:prstGeom prst="rect">
            <a:avLst/>
          </a:prstGeom>
          <a:noFill/>
        </p:spPr>
        <p:txBody>
          <a:bodyPr wrap="square" lIns="0" tIns="0" rIns="0" bIns="0">
            <a:spAutoFit/>
          </a:bodyPr>
          <a:lstStyle/>
          <a:p>
            <a:pPr>
              <a:defRPr sz="2200" b="1">
                <a:solidFill>
                  <a:srgbClr val="FFFFFF"/>
                </a:solidFill>
                <a:latin typeface="Segoe UI"/>
              </a:defRPr>
            </a:pPr>
            <a:r>
              <a:t>Diagnosis Before Treatment: The FinShield Paradigm</a:t>
            </a:r>
          </a:p>
        </p:txBody>
      </p:sp>
      <p:sp>
        <p:nvSpPr>
          <p:cNvPr id="5" name="TextBox 4"/>
          <p:cNvSpPr txBox="1"/>
          <p:nvPr/>
        </p:nvSpPr>
        <p:spPr>
          <a:xfrm>
            <a:off x="731520" y="1261872"/>
            <a:ext cx="10698480" cy="320040"/>
          </a:xfrm>
          <a:prstGeom prst="rect">
            <a:avLst/>
          </a:prstGeom>
          <a:noFill/>
        </p:spPr>
        <p:txBody>
          <a:bodyPr wrap="square" lIns="0" tIns="0" rIns="0" bIns="0">
            <a:spAutoFit/>
          </a:bodyPr>
          <a:lstStyle/>
          <a:p>
            <a:pPr>
              <a:defRPr sz="1100">
                <a:solidFill>
                  <a:srgbClr val="9CA3AF"/>
                </a:solidFill>
                <a:latin typeface="Segoe UI"/>
              </a:defRPr>
            </a:pPr>
            <a:r>
              <a:t>We are not another risk scorer or chatbot. We are a clinical intervention engine for financial health.</a:t>
            </a:r>
          </a:p>
        </p:txBody>
      </p:sp>
      <p:sp>
        <p:nvSpPr>
          <p:cNvPr id="6" name="Rounded Rectangle 5"/>
          <p:cNvSpPr/>
          <p:nvPr/>
        </p:nvSpPr>
        <p:spPr>
          <a:xfrm>
            <a:off x="731520" y="1691640"/>
            <a:ext cx="5212080" cy="4480560"/>
          </a:xfrm>
          <a:prstGeom prst="roundRect">
            <a:avLst/>
          </a:prstGeom>
          <a:solidFill>
            <a:srgbClr val="121C3A"/>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4754880" cy="4114800"/>
          </a:xfrm>
          <a:prstGeom prst="rect">
            <a:avLst/>
          </a:prstGeom>
          <a:noFill/>
        </p:spPr>
        <p:txBody>
          <a:bodyPr wrap="square">
            <a:spAutoFit/>
          </a:bodyPr>
          <a:lstStyle/>
          <a:p>
            <a:pPr>
              <a:spcAft>
                <a:spcPts val="1400"/>
              </a:spcAft>
              <a:defRPr sz="1300" b="1">
                <a:solidFill>
                  <a:srgbClr val="F43F5E"/>
                </a:solidFill>
              </a:defRPr>
            </a:pPr>
            <a:r>
              <a:t>WHAT WE ARE NOT</a:t>
            </a:r>
          </a:p>
          <a:p>
            <a:pPr>
              <a:defRPr sz="1100" b="1">
                <a:solidFill>
                  <a:srgbClr val="FFFFFF"/>
                </a:solidFill>
              </a:defRPr>
            </a:pPr>
            <a:r>
              <a:t>✖  Credit-Risk Scorecard</a:t>
            </a:r>
          </a:p>
          <a:p>
            <a:pPr>
              <a:spcAft>
                <a:spcPts val="800"/>
              </a:spcAft>
              <a:defRPr sz="1000">
                <a:solidFill>
                  <a:srgbClr val="9CA3AF"/>
                </a:solidFill>
              </a:defRPr>
            </a:pPr>
            <a:r>
              <a:t>    Scorecards tell you probability of default (PD), but never tell you how to cure it.</a:t>
            </a:r>
          </a:p>
          <a:p>
            <a:pPr>
              <a:defRPr sz="1100" b="1">
                <a:solidFill>
                  <a:srgbClr val="FFFFFF"/>
                </a:solidFill>
              </a:defRPr>
            </a:pPr>
            <a:r>
              <a:t>✖  Banking Chatbot</a:t>
            </a:r>
          </a:p>
          <a:p>
            <a:pPr>
              <a:spcAft>
                <a:spcPts val="800"/>
              </a:spcAft>
              <a:defRPr sz="1000">
                <a:solidFill>
                  <a:srgbClr val="9CA3AF"/>
                </a:solidFill>
              </a:defRPr>
            </a:pPr>
            <a:r>
              <a:t>    Conversational bots lack deterministic financial guardrails and risk engines.</a:t>
            </a:r>
          </a:p>
          <a:p>
            <a:pPr>
              <a:defRPr sz="1100" b="1">
                <a:solidFill>
                  <a:srgbClr val="FFFFFF"/>
                </a:solidFill>
              </a:defRPr>
            </a:pPr>
            <a:r>
              <a:t>✖  Loan Recommender</a:t>
            </a:r>
          </a:p>
          <a:p>
            <a:pPr>
              <a:spcAft>
                <a:spcPts val="800"/>
              </a:spcAft>
              <a:defRPr sz="1000">
                <a:solidFill>
                  <a:srgbClr val="9CA3AF"/>
                </a:solidFill>
              </a:defRPr>
            </a:pPr>
            <a:r>
              <a:t>    Pushing more credit to a distressed borrower creates predatory debt spirals.</a:t>
            </a:r>
          </a:p>
          <a:p>
            <a:pPr>
              <a:defRPr sz="1100" b="1">
                <a:solidFill>
                  <a:srgbClr val="FFFFFF"/>
                </a:solidFill>
              </a:defRPr>
            </a:pPr>
            <a:r>
              <a:t>✖  Generic BI Dashboard</a:t>
            </a:r>
          </a:p>
          <a:p>
            <a:pPr>
              <a:spcAft>
                <a:spcPts val="800"/>
              </a:spcAft>
              <a:defRPr sz="1000">
                <a:solidFill>
                  <a:srgbClr val="9CA3AF"/>
                </a:solidFill>
              </a:defRPr>
            </a:pPr>
            <a:r>
              <a:t>    Passive charts don't generate safety-checked, actionable intervention paths.</a:t>
            </a:r>
          </a:p>
        </p:txBody>
      </p:sp>
      <p:sp>
        <p:nvSpPr>
          <p:cNvPr id="8" name="Rounded Rectangle 7"/>
          <p:cNvSpPr/>
          <p:nvPr/>
        </p:nvSpPr>
        <p:spPr>
          <a:xfrm>
            <a:off x="6126480" y="1691640"/>
            <a:ext cx="5212080" cy="4480560"/>
          </a:xfrm>
          <a:prstGeom prst="roundRect">
            <a:avLst/>
          </a:prstGeom>
          <a:solidFill>
            <a:srgbClr val="121C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74519"/>
            <a:ext cx="4754880" cy="4114800"/>
          </a:xfrm>
          <a:prstGeom prst="rect">
            <a:avLst/>
          </a:prstGeom>
          <a:noFill/>
        </p:spPr>
        <p:txBody>
          <a:bodyPr wrap="square">
            <a:spAutoFit/>
          </a:bodyPr>
          <a:lstStyle/>
          <a:p>
            <a:pPr>
              <a:spcAft>
                <a:spcPts val="1400"/>
              </a:spcAft>
              <a:defRPr sz="1300" b="1">
                <a:solidFill>
                  <a:srgbClr val="10B981"/>
                </a:solidFill>
              </a:defRPr>
            </a:pPr>
            <a:r>
              <a:t>WHAT FINSHIELD IS</a:t>
            </a:r>
          </a:p>
          <a:p>
            <a:pPr>
              <a:defRPr sz="1100" b="1">
                <a:solidFill>
                  <a:srgbClr val="FFFFFF"/>
                </a:solidFill>
              </a:defRPr>
            </a:pPr>
            <a:r>
              <a:t>★  Root-Cause Diagnostic</a:t>
            </a:r>
          </a:p>
          <a:p>
            <a:pPr>
              <a:spcAft>
                <a:spcPts val="800"/>
              </a:spcAft>
              <a:defRPr sz="1000">
                <a:solidFill>
                  <a:srgbClr val="9CA3AF"/>
                </a:solidFill>
              </a:defRPr>
            </a:pPr>
            <a:r>
              <a:t>    Identifies the exact financial mechanism driving distress (5 distinct archetypes).</a:t>
            </a:r>
          </a:p>
          <a:p>
            <a:pPr>
              <a:defRPr sz="1100" b="1">
                <a:solidFill>
                  <a:srgbClr val="FFFFFF"/>
                </a:solidFill>
              </a:defRPr>
            </a:pPr>
            <a:r>
              <a:t>★  Deterministic Capacity Engine</a:t>
            </a:r>
          </a:p>
          <a:p>
            <a:pPr>
              <a:spcAft>
                <a:spcPts val="800"/>
              </a:spcAft>
              <a:defRPr sz="1000">
                <a:solidFill>
                  <a:srgbClr val="9CA3AF"/>
                </a:solidFill>
              </a:defRPr>
            </a:pPr>
            <a:r>
              <a:t>    Calculates exact sustainable repayment capacity based on living cost floors.</a:t>
            </a:r>
          </a:p>
          <a:p>
            <a:pPr>
              <a:defRPr sz="1100" b="1">
                <a:solidFill>
                  <a:srgbClr val="FFFFFF"/>
                </a:solidFill>
              </a:defRPr>
            </a:pPr>
            <a:r>
              <a:t>★  Self-Rejecting Safety Filter</a:t>
            </a:r>
          </a:p>
          <a:p>
            <a:pPr>
              <a:spcAft>
                <a:spcPts val="800"/>
              </a:spcAft>
              <a:defRPr sz="1000">
                <a:solidFill>
                  <a:srgbClr val="9CA3AF"/>
                </a:solidFill>
              </a:defRPr>
            </a:pPr>
            <a:r>
              <a:t>    Actively prune interventions that increase long-term cost or debt overhang.</a:t>
            </a:r>
          </a:p>
          <a:p>
            <a:pPr>
              <a:defRPr sz="1100" b="1">
                <a:solidFill>
                  <a:srgbClr val="FFFFFF"/>
                </a:solidFill>
              </a:defRPr>
            </a:pPr>
            <a:r>
              <a:t>★  Explainable Consent Layer</a:t>
            </a:r>
          </a:p>
          <a:p>
            <a:pPr>
              <a:spcAft>
                <a:spcPts val="800"/>
              </a:spcAft>
              <a:defRPr sz="1000">
                <a:solidFill>
                  <a:srgbClr val="9CA3AF"/>
                </a:solidFill>
              </a:defRPr>
            </a:pPr>
            <a:r>
              <a:t>    SHAP feature attributions + Claude LLM plain-English customer explanations.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000" b="1">
                <a:solidFill>
                  <a:srgbClr val="00F0FF"/>
                </a:solidFill>
                <a:latin typeface="Segoe UI"/>
              </a:defRPr>
            </a:pPr>
            <a:r>
              <a:t>SYSTEM ARCHITECTURE</a:t>
            </a:r>
          </a:p>
        </p:txBody>
      </p:sp>
      <p:sp>
        <p:nvSpPr>
          <p:cNvPr id="4" name="TextBox 3"/>
          <p:cNvSpPr txBox="1"/>
          <p:nvPr/>
        </p:nvSpPr>
        <p:spPr>
          <a:xfrm>
            <a:off x="731520" y="713232"/>
            <a:ext cx="10698480" cy="548640"/>
          </a:xfrm>
          <a:prstGeom prst="rect">
            <a:avLst/>
          </a:prstGeom>
          <a:noFill/>
        </p:spPr>
        <p:txBody>
          <a:bodyPr wrap="square" lIns="0" tIns="0" rIns="0" bIns="0">
            <a:spAutoFit/>
          </a:bodyPr>
          <a:lstStyle/>
          <a:p>
            <a:pPr>
              <a:defRPr sz="2200" b="1">
                <a:solidFill>
                  <a:srgbClr val="FFFFFF"/>
                </a:solidFill>
                <a:latin typeface="Segoe UI"/>
              </a:defRPr>
            </a:pPr>
            <a:r>
              <a:t>The FinShield End-to-End Decision Flow</a:t>
            </a:r>
          </a:p>
        </p:txBody>
      </p:sp>
      <p:sp>
        <p:nvSpPr>
          <p:cNvPr id="5" name="TextBox 4"/>
          <p:cNvSpPr txBox="1"/>
          <p:nvPr/>
        </p:nvSpPr>
        <p:spPr>
          <a:xfrm>
            <a:off x="731520" y="1261872"/>
            <a:ext cx="10698480" cy="320040"/>
          </a:xfrm>
          <a:prstGeom prst="rect">
            <a:avLst/>
          </a:prstGeom>
          <a:noFill/>
        </p:spPr>
        <p:txBody>
          <a:bodyPr wrap="square" lIns="0" tIns="0" rIns="0" bIns="0">
            <a:spAutoFit/>
          </a:bodyPr>
          <a:lstStyle/>
          <a:p>
            <a:pPr>
              <a:defRPr sz="1100">
                <a:solidFill>
                  <a:srgbClr val="9CA3AF"/>
                </a:solidFill>
                <a:latin typeface="Segoe UI"/>
              </a:defRPr>
            </a:pPr>
            <a:r>
              <a:t>A closed-loop pipeline combining machine learning, deterministic math, safety filters, and human oversight.</a:t>
            </a:r>
          </a:p>
        </p:txBody>
      </p:sp>
      <p:sp>
        <p:nvSpPr>
          <p:cNvPr id="6" name="Rounded Rectangle 5"/>
          <p:cNvSpPr/>
          <p:nvPr/>
        </p:nvSpPr>
        <p:spPr>
          <a:xfrm>
            <a:off x="731520" y="1691640"/>
            <a:ext cx="3383280" cy="205740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1828800"/>
          </a:xfrm>
          <a:prstGeom prst="rect">
            <a:avLst/>
          </a:prstGeom>
          <a:noFill/>
        </p:spPr>
        <p:txBody>
          <a:bodyPr wrap="square">
            <a:spAutoFit/>
          </a:bodyPr>
          <a:lstStyle/>
          <a:p>
            <a:pPr>
              <a:spcAft>
                <a:spcPts val="600"/>
              </a:spcAft>
              <a:defRPr sz="1100" b="1">
                <a:solidFill>
                  <a:srgbClr val="3A86FF"/>
                </a:solidFill>
              </a:defRPr>
            </a:pPr>
            <a:r>
              <a:t>1. Early Distress Trigger</a:t>
            </a:r>
          </a:p>
          <a:p>
            <a:pPr>
              <a:spcAft>
                <a:spcPts val="600"/>
              </a:spcAft>
              <a:defRPr sz="1000">
                <a:solidFill>
                  <a:srgbClr val="FFFFFF"/>
                </a:solidFill>
              </a:defRPr>
            </a:pPr>
            <a:r>
              <a:t>Detects cash-flow strains, overdrafts, or expense spikes before payment default.</a:t>
            </a:r>
          </a:p>
          <a:p>
            <a:pPr>
              <a:defRPr sz="850">
                <a:solidFill>
                  <a:srgbClr val="64748B"/>
                </a:solidFill>
              </a:defRPr>
            </a:pPr>
            <a:r>
              <a:t>→ Stage 1 Output Validated</a:t>
            </a:r>
          </a:p>
        </p:txBody>
      </p:sp>
      <p:sp>
        <p:nvSpPr>
          <p:cNvPr id="8" name="Rounded Rectangle 7"/>
          <p:cNvSpPr/>
          <p:nvPr/>
        </p:nvSpPr>
        <p:spPr>
          <a:xfrm>
            <a:off x="4297680" y="1691640"/>
            <a:ext cx="3383280" cy="205740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828800"/>
            <a:ext cx="3017520" cy="1828800"/>
          </a:xfrm>
          <a:prstGeom prst="rect">
            <a:avLst/>
          </a:prstGeom>
          <a:noFill/>
        </p:spPr>
        <p:txBody>
          <a:bodyPr wrap="square">
            <a:spAutoFit/>
          </a:bodyPr>
          <a:lstStyle/>
          <a:p>
            <a:pPr>
              <a:spcAft>
                <a:spcPts val="600"/>
              </a:spcAft>
              <a:defRPr sz="1100" b="1">
                <a:solidFill>
                  <a:srgbClr val="00F0FF"/>
                </a:solidFill>
              </a:defRPr>
            </a:pPr>
            <a:r>
              <a:t>2. Root-Cause Diagnosis</a:t>
            </a:r>
          </a:p>
          <a:p>
            <a:pPr>
              <a:spcAft>
                <a:spcPts val="600"/>
              </a:spcAft>
              <a:defRPr sz="1000">
                <a:solidFill>
                  <a:srgbClr val="FFFFFF"/>
                </a:solidFill>
              </a:defRPr>
            </a:pPr>
            <a:r>
              <a:t>XGBoost classifies distress: Income Shock, Debt Overload, Timing Mismatch, etc.</a:t>
            </a:r>
          </a:p>
          <a:p>
            <a:pPr>
              <a:defRPr sz="850">
                <a:solidFill>
                  <a:srgbClr val="64748B"/>
                </a:solidFill>
              </a:defRPr>
            </a:pPr>
            <a:r>
              <a:t>→ Stage 2 Output Validated</a:t>
            </a:r>
          </a:p>
        </p:txBody>
      </p:sp>
      <p:sp>
        <p:nvSpPr>
          <p:cNvPr id="10" name="Rounded Rectangle 9"/>
          <p:cNvSpPr/>
          <p:nvPr/>
        </p:nvSpPr>
        <p:spPr>
          <a:xfrm>
            <a:off x="7863840" y="1691640"/>
            <a:ext cx="3383280" cy="205740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828800"/>
            <a:ext cx="3017520" cy="1828800"/>
          </a:xfrm>
          <a:prstGeom prst="rect">
            <a:avLst/>
          </a:prstGeom>
          <a:noFill/>
        </p:spPr>
        <p:txBody>
          <a:bodyPr wrap="square">
            <a:spAutoFit/>
          </a:bodyPr>
          <a:lstStyle/>
          <a:p>
            <a:pPr>
              <a:spcAft>
                <a:spcPts val="600"/>
              </a:spcAft>
              <a:defRPr sz="1100" b="1">
                <a:solidFill>
                  <a:srgbClr val="10B981"/>
                </a:solidFill>
              </a:defRPr>
            </a:pPr>
            <a:r>
              <a:t>3. Repayment Capacity</a:t>
            </a:r>
          </a:p>
          <a:p>
            <a:pPr>
              <a:spcAft>
                <a:spcPts val="600"/>
              </a:spcAft>
              <a:defRPr sz="1000">
                <a:solidFill>
                  <a:srgbClr val="FFFFFF"/>
                </a:solidFill>
              </a:defRPr>
            </a:pPr>
            <a:r>
              <a:t>Deterministic formula computes real monthly affordability floor (e.g. ₹15,000).</a:t>
            </a:r>
          </a:p>
          <a:p>
            <a:pPr>
              <a:defRPr sz="850">
                <a:solidFill>
                  <a:srgbClr val="64748B"/>
                </a:solidFill>
              </a:defRPr>
            </a:pPr>
            <a:r>
              <a:t>→ Stage 3 Output Validated</a:t>
            </a:r>
          </a:p>
        </p:txBody>
      </p:sp>
      <p:sp>
        <p:nvSpPr>
          <p:cNvPr id="12" name="Rounded Rectangle 11"/>
          <p:cNvSpPr/>
          <p:nvPr/>
        </p:nvSpPr>
        <p:spPr>
          <a:xfrm>
            <a:off x="731520" y="3977639"/>
            <a:ext cx="3383280" cy="205740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14799"/>
            <a:ext cx="3017520" cy="1828800"/>
          </a:xfrm>
          <a:prstGeom prst="rect">
            <a:avLst/>
          </a:prstGeom>
          <a:noFill/>
        </p:spPr>
        <p:txBody>
          <a:bodyPr wrap="square">
            <a:spAutoFit/>
          </a:bodyPr>
          <a:lstStyle/>
          <a:p>
            <a:pPr>
              <a:spcAft>
                <a:spcPts val="600"/>
              </a:spcAft>
              <a:defRPr sz="1100" b="1">
                <a:solidFill>
                  <a:srgbClr val="F59E0B"/>
                </a:solidFill>
              </a:defRPr>
            </a:pPr>
            <a:r>
              <a:t>4. Safety &amp; Eligibility Filter</a:t>
            </a:r>
          </a:p>
          <a:p>
            <a:pPr>
              <a:spcAft>
                <a:spcPts val="600"/>
              </a:spcAft>
              <a:defRPr sz="1000">
                <a:solidFill>
                  <a:srgbClr val="FFFFFF"/>
                </a:solidFill>
              </a:defRPr>
            </a:pPr>
            <a:r>
              <a:t>Hard constraints reject dangerous options (e.g. rejects consolidation if debt-overloaded).</a:t>
            </a:r>
          </a:p>
          <a:p>
            <a:pPr>
              <a:defRPr sz="850">
                <a:solidFill>
                  <a:srgbClr val="64748B"/>
                </a:solidFill>
              </a:defRPr>
            </a:pPr>
            <a:r>
              <a:t>→ Stage 4 Output Validated</a:t>
            </a:r>
          </a:p>
        </p:txBody>
      </p:sp>
      <p:sp>
        <p:nvSpPr>
          <p:cNvPr id="14" name="Rounded Rectangle 13"/>
          <p:cNvSpPr/>
          <p:nvPr/>
        </p:nvSpPr>
        <p:spPr>
          <a:xfrm>
            <a:off x="4297680" y="3977639"/>
            <a:ext cx="3383280" cy="205740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4114799"/>
            <a:ext cx="3017520" cy="1828800"/>
          </a:xfrm>
          <a:prstGeom prst="rect">
            <a:avLst/>
          </a:prstGeom>
          <a:noFill/>
        </p:spPr>
        <p:txBody>
          <a:bodyPr wrap="square">
            <a:spAutoFit/>
          </a:bodyPr>
          <a:lstStyle/>
          <a:p>
            <a:pPr>
              <a:spcAft>
                <a:spcPts val="600"/>
              </a:spcAft>
              <a:defRPr sz="1100" b="1">
                <a:solidFill>
                  <a:srgbClr val="00F0FF"/>
                </a:solidFill>
              </a:defRPr>
            </a:pPr>
            <a:r>
              <a:t>5. Explainable Consent</a:t>
            </a:r>
          </a:p>
          <a:p>
            <a:pPr>
              <a:spcAft>
                <a:spcPts val="600"/>
              </a:spcAft>
              <a:defRPr sz="1000">
                <a:solidFill>
                  <a:srgbClr val="FFFFFF"/>
                </a:solidFill>
              </a:defRPr>
            </a:pPr>
            <a:r>
              <a:t>SHAP + Claude LLM present transparent options to customer with trade-offs.</a:t>
            </a:r>
          </a:p>
          <a:p>
            <a:pPr>
              <a:defRPr sz="850">
                <a:solidFill>
                  <a:srgbClr val="64748B"/>
                </a:solidFill>
              </a:defRPr>
            </a:pPr>
            <a:r>
              <a:t>→ Stage 5 Output Validated</a:t>
            </a:r>
          </a:p>
        </p:txBody>
      </p:sp>
      <p:sp>
        <p:nvSpPr>
          <p:cNvPr id="16" name="Rounded Rectangle 15"/>
          <p:cNvSpPr/>
          <p:nvPr/>
        </p:nvSpPr>
        <p:spPr>
          <a:xfrm>
            <a:off x="7863840" y="3977639"/>
            <a:ext cx="3383280" cy="205740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114799"/>
            <a:ext cx="3017520" cy="1828800"/>
          </a:xfrm>
          <a:prstGeom prst="rect">
            <a:avLst/>
          </a:prstGeom>
          <a:noFill/>
        </p:spPr>
        <p:txBody>
          <a:bodyPr wrap="square">
            <a:spAutoFit/>
          </a:bodyPr>
          <a:lstStyle/>
          <a:p>
            <a:pPr>
              <a:spcAft>
                <a:spcPts val="600"/>
              </a:spcAft>
              <a:defRPr sz="1100" b="1">
                <a:solidFill>
                  <a:srgbClr val="10B981"/>
                </a:solidFill>
              </a:defRPr>
            </a:pPr>
            <a:r>
              <a:t>6. Safe Dual-Execution</a:t>
            </a:r>
          </a:p>
          <a:p>
            <a:pPr>
              <a:spcAft>
                <a:spcPts val="600"/>
              </a:spcAft>
              <a:defRPr sz="1000">
                <a:solidFill>
                  <a:srgbClr val="FFFFFF"/>
                </a:solidFill>
              </a:defRPr>
            </a:pPr>
            <a:r>
              <a:t>Tier A auto-executed post-consent; Tier B/C routed to Bank Hardship Officers.</a:t>
            </a:r>
          </a:p>
          <a:p>
            <a:pPr>
              <a:defRPr sz="850">
                <a:solidFill>
                  <a:srgbClr val="64748B"/>
                </a:solidFill>
              </a:defRPr>
            </a:pPr>
            <a:r>
              <a:t>→ Stage 6 Output Validated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000" b="1">
                <a:solidFill>
                  <a:srgbClr val="00F0FF"/>
                </a:solidFill>
                <a:latin typeface="Segoe UI"/>
              </a:defRPr>
            </a:pPr>
            <a:r>
              <a:t>AI &amp; FINANCIAL ENGINEERING</a:t>
            </a:r>
          </a:p>
        </p:txBody>
      </p:sp>
      <p:sp>
        <p:nvSpPr>
          <p:cNvPr id="4" name="TextBox 3"/>
          <p:cNvSpPr txBox="1"/>
          <p:nvPr/>
        </p:nvSpPr>
        <p:spPr>
          <a:xfrm>
            <a:off x="731520" y="713232"/>
            <a:ext cx="10698480" cy="548640"/>
          </a:xfrm>
          <a:prstGeom prst="rect">
            <a:avLst/>
          </a:prstGeom>
          <a:noFill/>
        </p:spPr>
        <p:txBody>
          <a:bodyPr wrap="square" lIns="0" tIns="0" rIns="0" bIns="0">
            <a:spAutoFit/>
          </a:bodyPr>
          <a:lstStyle/>
          <a:p>
            <a:pPr>
              <a:defRPr sz="2200" b="1">
                <a:solidFill>
                  <a:srgbClr val="FFFFFF"/>
                </a:solidFill>
                <a:latin typeface="Segoe UI"/>
              </a:defRPr>
            </a:pPr>
            <a:r>
              <a:t>Deep Dive: The 4 Core Intelligence Modules</a:t>
            </a:r>
          </a:p>
        </p:txBody>
      </p:sp>
      <p:sp>
        <p:nvSpPr>
          <p:cNvPr id="5" name="TextBox 4"/>
          <p:cNvSpPr txBox="1"/>
          <p:nvPr/>
        </p:nvSpPr>
        <p:spPr>
          <a:xfrm>
            <a:off x="731520" y="1261872"/>
            <a:ext cx="10698480" cy="320040"/>
          </a:xfrm>
          <a:prstGeom prst="rect">
            <a:avLst/>
          </a:prstGeom>
          <a:noFill/>
        </p:spPr>
        <p:txBody>
          <a:bodyPr wrap="square" lIns="0" tIns="0" rIns="0" bIns="0">
            <a:spAutoFit/>
          </a:bodyPr>
          <a:lstStyle/>
          <a:p>
            <a:pPr>
              <a:defRPr sz="1100">
                <a:solidFill>
                  <a:srgbClr val="9CA3AF"/>
                </a:solidFill>
                <a:latin typeface="Segoe UI"/>
              </a:defRPr>
            </a:pPr>
            <a:r>
              <a:t>AI is applied precisely where it adds distinct value — backed by deterministic financial guardrails.</a:t>
            </a:r>
          </a:p>
        </p:txBody>
      </p:sp>
      <p:sp>
        <p:nvSpPr>
          <p:cNvPr id="6" name="Rounded Rectangle 5"/>
          <p:cNvSpPr/>
          <p:nvPr/>
        </p:nvSpPr>
        <p:spPr>
          <a:xfrm>
            <a:off x="731520" y="1691640"/>
            <a:ext cx="5212080" cy="214884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1920240"/>
          </a:xfrm>
          <a:prstGeom prst="rect">
            <a:avLst/>
          </a:prstGeom>
          <a:noFill/>
        </p:spPr>
        <p:txBody>
          <a:bodyPr wrap="square">
            <a:spAutoFit/>
          </a:bodyPr>
          <a:lstStyle/>
          <a:p>
            <a:pPr>
              <a:defRPr sz="1100" b="1">
                <a:solidFill>
                  <a:srgbClr val="3A86FF"/>
                </a:solidFill>
              </a:defRPr>
            </a:pPr>
            <a:r>
              <a:t>A. XGBoost Distress Classifier</a:t>
            </a:r>
          </a:p>
          <a:p>
            <a:pPr>
              <a:spcAft>
                <a:spcPts val="400"/>
              </a:spcAft>
              <a:defRPr sz="850" b="1">
                <a:solidFill>
                  <a:srgbClr val="64748B"/>
                </a:solidFill>
              </a:defRPr>
            </a:pPr>
            <a:r>
              <a:t>MULTI-CLASS ML DIAGNOSIS</a:t>
            </a:r>
          </a:p>
          <a:p>
            <a:pPr>
              <a:spcAft>
                <a:spcPts val="300"/>
              </a:spcAft>
              <a:defRPr sz="950">
                <a:solidFill>
                  <a:srgbClr val="FFFFFF"/>
                </a:solidFill>
              </a:defRPr>
            </a:pPr>
            <a:r>
              <a:t>• Predicts the underlying cause across 5 archetypes: Income Shock, Debt Overload, Cash-Flow Mismatch, Expense Shock, Structural Distress.</a:t>
            </a:r>
          </a:p>
          <a:p>
            <a:pPr>
              <a:spcAft>
                <a:spcPts val="300"/>
              </a:spcAft>
              <a:defRPr sz="950">
                <a:solidFill>
                  <a:srgbClr val="FFFFFF"/>
                </a:solidFill>
              </a:defRPr>
            </a:pPr>
            <a:r>
              <a:t>• Trained on multi-dimensional time-series features (cash-flow velocity, variance in discretionary vs essential spending, DTI trends).</a:t>
            </a:r>
          </a:p>
        </p:txBody>
      </p:sp>
      <p:sp>
        <p:nvSpPr>
          <p:cNvPr id="8" name="Rounded Rectangle 7"/>
          <p:cNvSpPr/>
          <p:nvPr/>
        </p:nvSpPr>
        <p:spPr>
          <a:xfrm>
            <a:off x="6126480" y="1691640"/>
            <a:ext cx="5212080" cy="214884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828800"/>
            <a:ext cx="4846320" cy="1920240"/>
          </a:xfrm>
          <a:prstGeom prst="rect">
            <a:avLst/>
          </a:prstGeom>
          <a:noFill/>
        </p:spPr>
        <p:txBody>
          <a:bodyPr wrap="square">
            <a:spAutoFit/>
          </a:bodyPr>
          <a:lstStyle/>
          <a:p>
            <a:pPr>
              <a:defRPr sz="1100" b="1">
                <a:solidFill>
                  <a:srgbClr val="00F0FF"/>
                </a:solidFill>
              </a:defRPr>
            </a:pPr>
            <a:r>
              <a:t>B. SHAP Explainability Engine</a:t>
            </a:r>
          </a:p>
          <a:p>
            <a:pPr>
              <a:spcAft>
                <a:spcPts val="400"/>
              </a:spcAft>
              <a:defRPr sz="850" b="1">
                <a:solidFill>
                  <a:srgbClr val="64748B"/>
                </a:solidFill>
              </a:defRPr>
            </a:pPr>
            <a:r>
              <a:t>TRANSPARENT FEATURE ATTRIBUTION</a:t>
            </a:r>
          </a:p>
          <a:p>
            <a:pPr>
              <a:spcAft>
                <a:spcPts val="300"/>
              </a:spcAft>
              <a:defRPr sz="950">
                <a:solidFill>
                  <a:srgbClr val="FFFFFF"/>
                </a:solidFill>
              </a:defRPr>
            </a:pPr>
            <a:r>
              <a:t>• Computes local Shapley values for every customer decision.</a:t>
            </a:r>
          </a:p>
          <a:p>
            <a:pPr>
              <a:spcAft>
                <a:spcPts val="300"/>
              </a:spcAft>
              <a:defRPr sz="950">
                <a:solidFill>
                  <a:srgbClr val="FFFFFF"/>
                </a:solidFill>
              </a:defRPr>
            </a:pPr>
            <a:r>
              <a:t>• Pinpoints exact drivers: e.g., +42% essential expense spike, -65% liquid savings drawdown, 3 overdraft occurrences.</a:t>
            </a:r>
          </a:p>
          <a:p>
            <a:pPr>
              <a:spcAft>
                <a:spcPts val="300"/>
              </a:spcAft>
              <a:defRPr sz="950">
                <a:solidFill>
                  <a:srgbClr val="FFFFFF"/>
                </a:solidFill>
              </a:defRPr>
            </a:pPr>
            <a:r>
              <a:t>• Zero black-box decisions — provides audit-ready regulatory transparency.</a:t>
            </a:r>
          </a:p>
        </p:txBody>
      </p:sp>
      <p:sp>
        <p:nvSpPr>
          <p:cNvPr id="10" name="Rounded Rectangle 9"/>
          <p:cNvSpPr/>
          <p:nvPr/>
        </p:nvSpPr>
        <p:spPr>
          <a:xfrm>
            <a:off x="731520" y="3977639"/>
            <a:ext cx="5212080" cy="214884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799"/>
            <a:ext cx="4846320" cy="1920240"/>
          </a:xfrm>
          <a:prstGeom prst="rect">
            <a:avLst/>
          </a:prstGeom>
          <a:noFill/>
        </p:spPr>
        <p:txBody>
          <a:bodyPr wrap="square">
            <a:spAutoFit/>
          </a:bodyPr>
          <a:lstStyle/>
          <a:p>
            <a:pPr>
              <a:defRPr sz="1100" b="1">
                <a:solidFill>
                  <a:srgbClr val="10B981"/>
                </a:solidFill>
              </a:defRPr>
            </a:pPr>
            <a:r>
              <a:t>C. Repayment Capacity Engine</a:t>
            </a:r>
          </a:p>
          <a:p>
            <a:pPr>
              <a:spcAft>
                <a:spcPts val="400"/>
              </a:spcAft>
              <a:defRPr sz="850" b="1">
                <a:solidFill>
                  <a:srgbClr val="64748B"/>
                </a:solidFill>
              </a:defRPr>
            </a:pPr>
            <a:r>
              <a:t>DETERMINISTIC AFFORDABILITY MATH</a:t>
            </a:r>
          </a:p>
          <a:p>
            <a:pPr>
              <a:spcAft>
                <a:spcPts val="300"/>
              </a:spcAft>
              <a:defRPr sz="950">
                <a:solidFill>
                  <a:srgbClr val="FFFFFF"/>
                </a:solidFill>
              </a:defRPr>
            </a:pPr>
            <a:r>
              <a:t>• Completely rule-based and transparent — NOT an opaque ML output.</a:t>
            </a:r>
          </a:p>
          <a:p>
            <a:pPr>
              <a:spcAft>
                <a:spcPts val="300"/>
              </a:spcAft>
              <a:defRPr sz="950">
                <a:solidFill>
                  <a:srgbClr val="FFFFFF"/>
                </a:solidFill>
              </a:defRPr>
            </a:pPr>
            <a:r>
              <a:t>• Formula: Monthly Net Income - Essential Living Floor - Buffer - Fixed Non-Bank Commitments = Max Sustainable EMI.</a:t>
            </a:r>
          </a:p>
          <a:p>
            <a:pPr>
              <a:spcAft>
                <a:spcPts val="300"/>
              </a:spcAft>
              <a:defRPr sz="950">
                <a:solidFill>
                  <a:srgbClr val="FFFFFF"/>
                </a:solidFill>
              </a:defRPr>
            </a:pPr>
            <a:r>
              <a:t>• Example: Current obligations ₹25k/mo → Sustainable floor ₹15k/mo.</a:t>
            </a:r>
          </a:p>
        </p:txBody>
      </p:sp>
      <p:sp>
        <p:nvSpPr>
          <p:cNvPr id="12" name="Rounded Rectangle 11"/>
          <p:cNvSpPr/>
          <p:nvPr/>
        </p:nvSpPr>
        <p:spPr>
          <a:xfrm>
            <a:off x="6126480" y="3977639"/>
            <a:ext cx="5212080" cy="214884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4114799"/>
            <a:ext cx="4846320" cy="1920240"/>
          </a:xfrm>
          <a:prstGeom prst="rect">
            <a:avLst/>
          </a:prstGeom>
          <a:noFill/>
        </p:spPr>
        <p:txBody>
          <a:bodyPr wrap="square">
            <a:spAutoFit/>
          </a:bodyPr>
          <a:lstStyle/>
          <a:p>
            <a:pPr>
              <a:defRPr sz="1100" b="1">
                <a:solidFill>
                  <a:srgbClr val="A855F7"/>
                </a:solidFill>
              </a:defRPr>
            </a:pPr>
            <a:r>
              <a:t>D. Claude LLM Communication Layer</a:t>
            </a:r>
          </a:p>
          <a:p>
            <a:pPr>
              <a:spcAft>
                <a:spcPts val="400"/>
              </a:spcAft>
              <a:defRPr sz="850" b="1">
                <a:solidFill>
                  <a:srgbClr val="64748B"/>
                </a:solidFill>
              </a:defRPr>
            </a:pPr>
            <a:r>
              <a:t>CONTEXTUAL NATURAL LANGUAGE</a:t>
            </a:r>
          </a:p>
          <a:p>
            <a:pPr>
              <a:spcAft>
                <a:spcPts val="300"/>
              </a:spcAft>
              <a:defRPr sz="950">
                <a:solidFill>
                  <a:srgbClr val="FFFFFF"/>
                </a:solidFill>
              </a:defRPr>
            </a:pPr>
            <a:r>
              <a:t>• Translates complex SHAP vectors and financial options into empathetic, jargon-free customer guidance.</a:t>
            </a:r>
          </a:p>
          <a:p>
            <a:pPr>
              <a:spcAft>
                <a:spcPts val="300"/>
              </a:spcAft>
              <a:defRPr sz="950">
                <a:solidFill>
                  <a:srgbClr val="FFFFFF"/>
                </a:solidFill>
              </a:defRPr>
            </a:pPr>
            <a:r>
              <a:t>• Generates comprehensive case dossiers for human hardship officers.</a:t>
            </a:r>
          </a:p>
          <a:p>
            <a:pPr>
              <a:spcAft>
                <a:spcPts val="300"/>
              </a:spcAft>
              <a:defRPr sz="950">
                <a:solidFill>
                  <a:srgbClr val="FFFFFF"/>
                </a:solidFill>
              </a:defRPr>
            </a:pPr>
            <a:r>
              <a:t>• Strict constraint: LLM has ZERO decision-making or rule-setting authority.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000" b="1">
                <a:solidFill>
                  <a:srgbClr val="00F0FF"/>
                </a:solidFill>
                <a:latin typeface="Segoe UI"/>
              </a:defRPr>
            </a:pPr>
            <a:r>
              <a:t>ACTION FRAMEWORK</a:t>
            </a:r>
          </a:p>
        </p:txBody>
      </p:sp>
      <p:sp>
        <p:nvSpPr>
          <p:cNvPr id="4" name="TextBox 3"/>
          <p:cNvSpPr txBox="1"/>
          <p:nvPr/>
        </p:nvSpPr>
        <p:spPr>
          <a:xfrm>
            <a:off x="731520" y="713232"/>
            <a:ext cx="10698480" cy="548640"/>
          </a:xfrm>
          <a:prstGeom prst="rect">
            <a:avLst/>
          </a:prstGeom>
          <a:noFill/>
        </p:spPr>
        <p:txBody>
          <a:bodyPr wrap="square" lIns="0" tIns="0" rIns="0" bIns="0">
            <a:spAutoFit/>
          </a:bodyPr>
          <a:lstStyle/>
          <a:p>
            <a:pPr>
              <a:defRPr sz="2200" b="1">
                <a:solidFill>
                  <a:srgbClr val="FFFFFF"/>
                </a:solidFill>
                <a:latin typeface="Segoe UI"/>
              </a:defRPr>
            </a:pPr>
            <a:r>
              <a:t>The 7-Level Intervention Ladder: Ordered by Intrusiveness</a:t>
            </a:r>
          </a:p>
        </p:txBody>
      </p:sp>
      <p:sp>
        <p:nvSpPr>
          <p:cNvPr id="5" name="TextBox 4"/>
          <p:cNvSpPr txBox="1"/>
          <p:nvPr/>
        </p:nvSpPr>
        <p:spPr>
          <a:xfrm>
            <a:off x="731520" y="1261872"/>
            <a:ext cx="10698480" cy="320040"/>
          </a:xfrm>
          <a:prstGeom prst="rect">
            <a:avLst/>
          </a:prstGeom>
          <a:noFill/>
        </p:spPr>
        <p:txBody>
          <a:bodyPr wrap="square" lIns="0" tIns="0" rIns="0" bIns="0">
            <a:spAutoFit/>
          </a:bodyPr>
          <a:lstStyle/>
          <a:p>
            <a:pPr>
              <a:defRPr sz="1100">
                <a:solidFill>
                  <a:srgbClr val="9CA3AF"/>
                </a:solidFill>
                <a:latin typeface="Segoe UI"/>
              </a:defRPr>
            </a:pPr>
            <a:r>
              <a:t>Interventions are ranked strictly by reversibility and long-term cost, not simply customer risk score.</a:t>
            </a:r>
          </a:p>
        </p:txBody>
      </p:sp>
      <p:sp>
        <p:nvSpPr>
          <p:cNvPr id="6" name="Rounded Rectangle 5"/>
          <p:cNvSpPr/>
          <p:nvPr/>
        </p:nvSpPr>
        <p:spPr>
          <a:xfrm>
            <a:off x="731520" y="1645920"/>
            <a:ext cx="10725912" cy="5943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55648"/>
            <a:ext cx="731520" cy="365760"/>
          </a:xfrm>
          <a:prstGeom prst="round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128"/>
                </a:solidFill>
              </a:defRPr>
            </a:pPr>
            <a:r>
              <a:t>L0</a:t>
            </a:r>
          </a:p>
        </p:txBody>
      </p:sp>
      <p:sp>
        <p:nvSpPr>
          <p:cNvPr id="8" name="TextBox 7"/>
          <p:cNvSpPr txBox="1"/>
          <p:nvPr/>
        </p:nvSpPr>
        <p:spPr>
          <a:xfrm>
            <a:off x="1737360" y="1719072"/>
            <a:ext cx="7589520" cy="457200"/>
          </a:xfrm>
          <a:prstGeom prst="rect">
            <a:avLst/>
          </a:prstGeom>
          <a:noFill/>
        </p:spPr>
        <p:txBody>
          <a:bodyPr wrap="square">
            <a:spAutoFit/>
          </a:bodyPr>
          <a:lstStyle/>
          <a:p>
            <a:pPr>
              <a:defRPr sz="1050" b="0">
                <a:solidFill>
                  <a:srgbClr val="9CA3AF"/>
                </a:solidFill>
              </a:defRPr>
            </a:pPr>
            <a:r>
              <a:t>MONITOR — Passive telemetry tracking when metrics are within safe variance limits. No customer contact.</a:t>
            </a:r>
          </a:p>
        </p:txBody>
      </p:sp>
      <p:sp>
        <p:nvSpPr>
          <p:cNvPr id="9" name="TextBox 8"/>
          <p:cNvSpPr txBox="1"/>
          <p:nvPr/>
        </p:nvSpPr>
        <p:spPr>
          <a:xfrm>
            <a:off x="9418320" y="1719072"/>
            <a:ext cx="1920240" cy="457200"/>
          </a:xfrm>
          <a:prstGeom prst="rect">
            <a:avLst/>
          </a:prstGeom>
          <a:noFill/>
        </p:spPr>
        <p:txBody>
          <a:bodyPr wrap="none">
            <a:spAutoFit/>
          </a:bodyPr>
          <a:lstStyle/>
          <a:p>
            <a:pPr algn="r">
              <a:defRPr sz="900" b="1">
                <a:solidFill>
                  <a:srgbClr val="00F0FF"/>
                </a:solidFill>
              </a:defRPr>
            </a:pPr>
            <a:r>
              <a:t>ZERO FRICTION</a:t>
            </a:r>
          </a:p>
        </p:txBody>
      </p:sp>
      <p:sp>
        <p:nvSpPr>
          <p:cNvPr id="10" name="Rounded Rectangle 9"/>
          <p:cNvSpPr/>
          <p:nvPr/>
        </p:nvSpPr>
        <p:spPr>
          <a:xfrm>
            <a:off x="731520" y="2304288"/>
            <a:ext cx="10725912" cy="5943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2414016"/>
            <a:ext cx="731520" cy="365760"/>
          </a:xfrm>
          <a:prstGeom prst="round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128"/>
                </a:solidFill>
              </a:defRPr>
            </a:pPr>
            <a:r>
              <a:t>L1</a:t>
            </a:r>
          </a:p>
        </p:txBody>
      </p:sp>
      <p:sp>
        <p:nvSpPr>
          <p:cNvPr id="12" name="TextBox 11"/>
          <p:cNvSpPr txBox="1"/>
          <p:nvPr/>
        </p:nvSpPr>
        <p:spPr>
          <a:xfrm>
            <a:off x="1737360" y="2377440"/>
            <a:ext cx="7589520" cy="457200"/>
          </a:xfrm>
          <a:prstGeom prst="rect">
            <a:avLst/>
          </a:prstGeom>
          <a:noFill/>
        </p:spPr>
        <p:txBody>
          <a:bodyPr wrap="square">
            <a:spAutoFit/>
          </a:bodyPr>
          <a:lstStyle/>
          <a:p>
            <a:pPr>
              <a:defRPr sz="1050" b="0">
                <a:solidFill>
                  <a:srgbClr val="9CA3AF"/>
                </a:solidFill>
              </a:defRPr>
            </a:pPr>
            <a:r>
              <a:t>INFORM — Actionable spending insights, obligation calendar syncing, budgeting nudges.</a:t>
            </a:r>
          </a:p>
        </p:txBody>
      </p:sp>
      <p:sp>
        <p:nvSpPr>
          <p:cNvPr id="13" name="TextBox 12"/>
          <p:cNvSpPr txBox="1"/>
          <p:nvPr/>
        </p:nvSpPr>
        <p:spPr>
          <a:xfrm>
            <a:off x="9418320" y="2377440"/>
            <a:ext cx="1920240" cy="457200"/>
          </a:xfrm>
          <a:prstGeom prst="rect">
            <a:avLst/>
          </a:prstGeom>
          <a:noFill/>
        </p:spPr>
        <p:txBody>
          <a:bodyPr wrap="none">
            <a:spAutoFit/>
          </a:bodyPr>
          <a:lstStyle/>
          <a:p>
            <a:pPr algn="r">
              <a:defRPr sz="900" b="1">
                <a:solidFill>
                  <a:srgbClr val="00F0FF"/>
                </a:solidFill>
              </a:defRPr>
            </a:pPr>
            <a:r>
              <a:t>INFORMATIONAL</a:t>
            </a:r>
          </a:p>
        </p:txBody>
      </p:sp>
      <p:sp>
        <p:nvSpPr>
          <p:cNvPr id="14" name="Rounded Rectangle 13"/>
          <p:cNvSpPr/>
          <p:nvPr/>
        </p:nvSpPr>
        <p:spPr>
          <a:xfrm>
            <a:off x="731520" y="2962656"/>
            <a:ext cx="10725912" cy="5943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8680" y="3072384"/>
            <a:ext cx="731520" cy="3657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128"/>
                </a:solidFill>
              </a:defRPr>
            </a:pPr>
            <a:r>
              <a:t>L2</a:t>
            </a:r>
          </a:p>
        </p:txBody>
      </p:sp>
      <p:sp>
        <p:nvSpPr>
          <p:cNvPr id="16" name="TextBox 15"/>
          <p:cNvSpPr txBox="1"/>
          <p:nvPr/>
        </p:nvSpPr>
        <p:spPr>
          <a:xfrm>
            <a:off x="1737360" y="3035808"/>
            <a:ext cx="7589520" cy="457200"/>
          </a:xfrm>
          <a:prstGeom prst="rect">
            <a:avLst/>
          </a:prstGeom>
          <a:noFill/>
        </p:spPr>
        <p:txBody>
          <a:bodyPr wrap="square">
            <a:spAutoFit/>
          </a:bodyPr>
          <a:lstStyle/>
          <a:p>
            <a:pPr>
              <a:defRPr sz="1050" b="0">
                <a:solidFill>
                  <a:srgbClr val="9CA3AF"/>
                </a:solidFill>
              </a:defRPr>
            </a:pPr>
            <a:r>
              <a:t>TIMING FIX — Align repayment dates to actual payroll deposits, autopay re-timing, waiver of late fees.</a:t>
            </a:r>
          </a:p>
        </p:txBody>
      </p:sp>
      <p:sp>
        <p:nvSpPr>
          <p:cNvPr id="17" name="TextBox 16"/>
          <p:cNvSpPr txBox="1"/>
          <p:nvPr/>
        </p:nvSpPr>
        <p:spPr>
          <a:xfrm>
            <a:off x="9418320" y="3035808"/>
            <a:ext cx="1920240" cy="457200"/>
          </a:xfrm>
          <a:prstGeom prst="rect">
            <a:avLst/>
          </a:prstGeom>
          <a:noFill/>
        </p:spPr>
        <p:txBody>
          <a:bodyPr wrap="none">
            <a:spAutoFit/>
          </a:bodyPr>
          <a:lstStyle/>
          <a:p>
            <a:pPr algn="r">
              <a:defRPr sz="900" b="1">
                <a:solidFill>
                  <a:srgbClr val="10B981"/>
                </a:solidFill>
              </a:defRPr>
            </a:pPr>
            <a:r>
              <a:t>HIGH REVERSIBILITY</a:t>
            </a:r>
          </a:p>
        </p:txBody>
      </p:sp>
      <p:sp>
        <p:nvSpPr>
          <p:cNvPr id="18" name="Rounded Rectangle 17"/>
          <p:cNvSpPr/>
          <p:nvPr/>
        </p:nvSpPr>
        <p:spPr>
          <a:xfrm>
            <a:off x="731520" y="3621024"/>
            <a:ext cx="10725912" cy="5943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3730752"/>
            <a:ext cx="731520" cy="3657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128"/>
                </a:solidFill>
              </a:defRPr>
            </a:pPr>
            <a:r>
              <a:t>L3</a:t>
            </a:r>
          </a:p>
        </p:txBody>
      </p:sp>
      <p:sp>
        <p:nvSpPr>
          <p:cNvPr id="20" name="TextBox 19"/>
          <p:cNvSpPr txBox="1"/>
          <p:nvPr/>
        </p:nvSpPr>
        <p:spPr>
          <a:xfrm>
            <a:off x="1737360" y="3694176"/>
            <a:ext cx="7589520" cy="457200"/>
          </a:xfrm>
          <a:prstGeom prst="rect">
            <a:avLst/>
          </a:prstGeom>
          <a:noFill/>
        </p:spPr>
        <p:txBody>
          <a:bodyPr wrap="square">
            <a:spAutoFit/>
          </a:bodyPr>
          <a:lstStyle/>
          <a:p>
            <a:pPr>
              <a:defRPr sz="1050" b="0">
                <a:solidFill>
                  <a:srgbClr val="9CA3AF"/>
                </a:solidFill>
              </a:defRPr>
            </a:pPr>
            <a:r>
              <a:t>REPAYMENT PLAN — Structured 3-6 month catch-up schedule with stabilized monthly instalments.</a:t>
            </a:r>
          </a:p>
        </p:txBody>
      </p:sp>
      <p:sp>
        <p:nvSpPr>
          <p:cNvPr id="21" name="TextBox 20"/>
          <p:cNvSpPr txBox="1"/>
          <p:nvPr/>
        </p:nvSpPr>
        <p:spPr>
          <a:xfrm>
            <a:off x="9418320" y="3694176"/>
            <a:ext cx="1920240" cy="457200"/>
          </a:xfrm>
          <a:prstGeom prst="rect">
            <a:avLst/>
          </a:prstGeom>
          <a:noFill/>
        </p:spPr>
        <p:txBody>
          <a:bodyPr wrap="none">
            <a:spAutoFit/>
          </a:bodyPr>
          <a:lstStyle/>
          <a:p>
            <a:pPr algn="r">
              <a:defRPr sz="900" b="1">
                <a:solidFill>
                  <a:srgbClr val="10B981"/>
                </a:solidFill>
              </a:defRPr>
            </a:pPr>
            <a:r>
              <a:t>MODERATE STRUCTURE</a:t>
            </a:r>
          </a:p>
        </p:txBody>
      </p:sp>
      <p:sp>
        <p:nvSpPr>
          <p:cNvPr id="22" name="Rounded Rectangle 21"/>
          <p:cNvSpPr/>
          <p:nvPr/>
        </p:nvSpPr>
        <p:spPr>
          <a:xfrm>
            <a:off x="731520" y="4279392"/>
            <a:ext cx="10725912" cy="5943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8680" y="4389120"/>
            <a:ext cx="731520" cy="3657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128"/>
                </a:solidFill>
              </a:defRPr>
            </a:pPr>
            <a:r>
              <a:t>L4</a:t>
            </a:r>
          </a:p>
        </p:txBody>
      </p:sp>
      <p:sp>
        <p:nvSpPr>
          <p:cNvPr id="24" name="TextBox 23"/>
          <p:cNvSpPr txBox="1"/>
          <p:nvPr/>
        </p:nvSpPr>
        <p:spPr>
          <a:xfrm>
            <a:off x="1737360" y="4352544"/>
            <a:ext cx="7589520" cy="457200"/>
          </a:xfrm>
          <a:prstGeom prst="rect">
            <a:avLst/>
          </a:prstGeom>
          <a:noFill/>
        </p:spPr>
        <p:txBody>
          <a:bodyPr wrap="square">
            <a:spAutoFit/>
          </a:bodyPr>
          <a:lstStyle/>
          <a:p>
            <a:pPr>
              <a:defRPr sz="1050" b="0">
                <a:solidFill>
                  <a:srgbClr val="9CA3AF"/>
                </a:solidFill>
              </a:defRPr>
            </a:pPr>
            <a:r>
              <a:t>TEMPORARY RELIEF — Short-term payment moratorium (1-3 months) or interest freeze during acute shock.</a:t>
            </a:r>
          </a:p>
        </p:txBody>
      </p:sp>
      <p:sp>
        <p:nvSpPr>
          <p:cNvPr id="25" name="TextBox 24"/>
          <p:cNvSpPr txBox="1"/>
          <p:nvPr/>
        </p:nvSpPr>
        <p:spPr>
          <a:xfrm>
            <a:off x="9418320" y="4352544"/>
            <a:ext cx="1920240" cy="457200"/>
          </a:xfrm>
          <a:prstGeom prst="rect">
            <a:avLst/>
          </a:prstGeom>
          <a:noFill/>
        </p:spPr>
        <p:txBody>
          <a:bodyPr wrap="none">
            <a:spAutoFit/>
          </a:bodyPr>
          <a:lstStyle/>
          <a:p>
            <a:pPr algn="r">
              <a:defRPr sz="900" b="1">
                <a:solidFill>
                  <a:srgbClr val="F59E0B"/>
                </a:solidFill>
              </a:defRPr>
            </a:pPr>
            <a:r>
              <a:t>RELIEF CONCESSION</a:t>
            </a:r>
          </a:p>
        </p:txBody>
      </p:sp>
      <p:sp>
        <p:nvSpPr>
          <p:cNvPr id="26" name="Rounded Rectangle 25"/>
          <p:cNvSpPr/>
          <p:nvPr/>
        </p:nvSpPr>
        <p:spPr>
          <a:xfrm>
            <a:off x="731520" y="4937759"/>
            <a:ext cx="10725912" cy="5943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68680" y="5047487"/>
            <a:ext cx="731520" cy="3657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128"/>
                </a:solidFill>
              </a:defRPr>
            </a:pPr>
            <a:r>
              <a:t>L5</a:t>
            </a:r>
          </a:p>
        </p:txBody>
      </p:sp>
      <p:sp>
        <p:nvSpPr>
          <p:cNvPr id="28" name="TextBox 27"/>
          <p:cNvSpPr txBox="1"/>
          <p:nvPr/>
        </p:nvSpPr>
        <p:spPr>
          <a:xfrm>
            <a:off x="1737360" y="5010911"/>
            <a:ext cx="7589520" cy="457200"/>
          </a:xfrm>
          <a:prstGeom prst="rect">
            <a:avLst/>
          </a:prstGeom>
          <a:noFill/>
        </p:spPr>
        <p:txBody>
          <a:bodyPr wrap="square">
            <a:spAutoFit/>
          </a:bodyPr>
          <a:lstStyle/>
          <a:p>
            <a:pPr>
              <a:defRPr sz="1050" b="0">
                <a:solidFill>
                  <a:srgbClr val="9CA3AF"/>
                </a:solidFill>
              </a:defRPr>
            </a:pPr>
            <a:r>
              <a:t>FORMAL SUPPORT — Tenor extension, structured loan restructuring, contractual interest rate reduction.</a:t>
            </a:r>
          </a:p>
        </p:txBody>
      </p:sp>
      <p:sp>
        <p:nvSpPr>
          <p:cNvPr id="29" name="TextBox 28"/>
          <p:cNvSpPr txBox="1"/>
          <p:nvPr/>
        </p:nvSpPr>
        <p:spPr>
          <a:xfrm>
            <a:off x="9418320" y="5010911"/>
            <a:ext cx="1920240" cy="457200"/>
          </a:xfrm>
          <a:prstGeom prst="rect">
            <a:avLst/>
          </a:prstGeom>
          <a:noFill/>
        </p:spPr>
        <p:txBody>
          <a:bodyPr wrap="none">
            <a:spAutoFit/>
          </a:bodyPr>
          <a:lstStyle/>
          <a:p>
            <a:pPr algn="r">
              <a:defRPr sz="900" b="1">
                <a:solidFill>
                  <a:srgbClr val="F59E0B"/>
                </a:solidFill>
              </a:defRPr>
            </a:pPr>
            <a:r>
              <a:t>CONTRACTUAL CHANGE</a:t>
            </a:r>
          </a:p>
        </p:txBody>
      </p:sp>
      <p:sp>
        <p:nvSpPr>
          <p:cNvPr id="30" name="Rounded Rectangle 29"/>
          <p:cNvSpPr/>
          <p:nvPr/>
        </p:nvSpPr>
        <p:spPr>
          <a:xfrm>
            <a:off x="731520" y="5596128"/>
            <a:ext cx="10725912" cy="5943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68680" y="5705856"/>
            <a:ext cx="731520" cy="36576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128"/>
                </a:solidFill>
              </a:defRPr>
            </a:pPr>
            <a:r>
              <a:t>L6</a:t>
            </a:r>
          </a:p>
        </p:txBody>
      </p:sp>
      <p:sp>
        <p:nvSpPr>
          <p:cNvPr id="32" name="TextBox 31"/>
          <p:cNvSpPr txBox="1"/>
          <p:nvPr/>
        </p:nvSpPr>
        <p:spPr>
          <a:xfrm>
            <a:off x="1737360" y="5669280"/>
            <a:ext cx="7589520" cy="457200"/>
          </a:xfrm>
          <a:prstGeom prst="rect">
            <a:avLst/>
          </a:prstGeom>
          <a:noFill/>
        </p:spPr>
        <p:txBody>
          <a:bodyPr wrap="square">
            <a:spAutoFit/>
          </a:bodyPr>
          <a:lstStyle/>
          <a:p>
            <a:pPr>
              <a:defRPr sz="1050" b="0">
                <a:solidFill>
                  <a:srgbClr val="9CA3AF"/>
                </a:solidFill>
              </a:defRPr>
            </a:pPr>
            <a:r>
              <a:t>HUMAN ESCALATION — Specialized Hardship Officer assignment for complex, vulnerable, or disputed cases.</a:t>
            </a:r>
          </a:p>
        </p:txBody>
      </p:sp>
      <p:sp>
        <p:nvSpPr>
          <p:cNvPr id="33" name="TextBox 32"/>
          <p:cNvSpPr txBox="1"/>
          <p:nvPr/>
        </p:nvSpPr>
        <p:spPr>
          <a:xfrm>
            <a:off x="9418320" y="5669280"/>
            <a:ext cx="1920240" cy="457200"/>
          </a:xfrm>
          <a:prstGeom prst="rect">
            <a:avLst/>
          </a:prstGeom>
          <a:noFill/>
        </p:spPr>
        <p:txBody>
          <a:bodyPr wrap="none">
            <a:spAutoFit/>
          </a:bodyPr>
          <a:lstStyle/>
          <a:p>
            <a:pPr algn="r">
              <a:defRPr sz="900" b="1">
                <a:solidFill>
                  <a:srgbClr val="F43F5E"/>
                </a:solidFill>
              </a:defRPr>
            </a:pPr>
            <a:r>
              <a:t>HUMAN JUDGMENT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000" b="1">
                <a:solidFill>
                  <a:srgbClr val="00F0FF"/>
                </a:solidFill>
                <a:latin typeface="Segoe UI"/>
              </a:defRPr>
            </a:pPr>
            <a:r>
              <a:t>GOVERNANCE &amp; ETHICS</a:t>
            </a:r>
          </a:p>
        </p:txBody>
      </p:sp>
      <p:sp>
        <p:nvSpPr>
          <p:cNvPr id="4" name="TextBox 3"/>
          <p:cNvSpPr txBox="1"/>
          <p:nvPr/>
        </p:nvSpPr>
        <p:spPr>
          <a:xfrm>
            <a:off x="731520" y="713232"/>
            <a:ext cx="10698480" cy="548640"/>
          </a:xfrm>
          <a:prstGeom prst="rect">
            <a:avLst/>
          </a:prstGeom>
          <a:noFill/>
        </p:spPr>
        <p:txBody>
          <a:bodyPr wrap="square" lIns="0" tIns="0" rIns="0" bIns="0">
            <a:spAutoFit/>
          </a:bodyPr>
          <a:lstStyle/>
          <a:p>
            <a:pPr>
              <a:defRPr sz="2200" b="1">
                <a:solidFill>
                  <a:srgbClr val="FFFFFF"/>
                </a:solidFill>
                <a:latin typeface="Segoe UI"/>
              </a:defRPr>
            </a:pPr>
            <a:r>
              <a:t>Responsible AI: Strict Automation Boundaries</a:t>
            </a:r>
          </a:p>
        </p:txBody>
      </p:sp>
      <p:sp>
        <p:nvSpPr>
          <p:cNvPr id="5" name="TextBox 4"/>
          <p:cNvSpPr txBox="1"/>
          <p:nvPr/>
        </p:nvSpPr>
        <p:spPr>
          <a:xfrm>
            <a:off x="731520" y="1261872"/>
            <a:ext cx="10698480" cy="320040"/>
          </a:xfrm>
          <a:prstGeom prst="rect">
            <a:avLst/>
          </a:prstGeom>
          <a:noFill/>
        </p:spPr>
        <p:txBody>
          <a:bodyPr wrap="square" lIns="0" tIns="0" rIns="0" bIns="0">
            <a:spAutoFit/>
          </a:bodyPr>
          <a:lstStyle/>
          <a:p>
            <a:pPr>
              <a:defRPr sz="1100">
                <a:solidFill>
                  <a:srgbClr val="9CA3AF"/>
                </a:solidFill>
                <a:latin typeface="Segoe UI"/>
              </a:defRPr>
            </a:pPr>
            <a:r>
              <a:t>Responsible AI is not a disclaimer in our footer — it is hardcoded into our execution architecture.</a:t>
            </a:r>
          </a:p>
        </p:txBody>
      </p:sp>
      <p:sp>
        <p:nvSpPr>
          <p:cNvPr id="6" name="Rounded Rectangle 5"/>
          <p:cNvSpPr/>
          <p:nvPr/>
        </p:nvSpPr>
        <p:spPr>
          <a:xfrm>
            <a:off x="731520" y="1691640"/>
            <a:ext cx="3474720" cy="4480560"/>
          </a:xfrm>
          <a:prstGeom prst="roundRect">
            <a:avLst/>
          </a:prstGeom>
          <a:solidFill>
            <a:srgbClr val="121C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108960" cy="4206240"/>
          </a:xfrm>
          <a:prstGeom prst="rect">
            <a:avLst/>
          </a:prstGeom>
          <a:noFill/>
        </p:spPr>
        <p:txBody>
          <a:bodyPr wrap="square">
            <a:spAutoFit/>
          </a:bodyPr>
          <a:lstStyle/>
          <a:p>
            <a:pPr>
              <a:spcAft>
                <a:spcPts val="1200"/>
              </a:spcAft>
              <a:defRPr sz="1100" b="1">
                <a:solidFill>
                  <a:srgbClr val="10B981"/>
                </a:solidFill>
              </a:defRPr>
            </a:pPr>
            <a:r>
              <a:t>TIER A: AUTOMATE POST-CONSENT</a:t>
            </a:r>
          </a:p>
          <a:p>
            <a:pPr>
              <a:spcAft>
                <a:spcPts val="500"/>
              </a:spcAft>
              <a:defRPr sz="950">
                <a:solidFill>
                  <a:srgbClr val="FFFFFF"/>
                </a:solidFill>
              </a:defRPr>
            </a:pPr>
            <a:r>
              <a:t>✔ Root-cause distress diagnosis</a:t>
            </a:r>
          </a:p>
          <a:p>
            <a:pPr>
              <a:spcAft>
                <a:spcPts val="500"/>
              </a:spcAft>
              <a:defRPr sz="950">
                <a:solidFill>
                  <a:srgbClr val="FFFFFF"/>
                </a:solidFill>
              </a:defRPr>
            </a:pPr>
            <a:r>
              <a:t>✔ Sustainable capacity calculation</a:t>
            </a:r>
          </a:p>
          <a:p>
            <a:pPr>
              <a:spcAft>
                <a:spcPts val="500"/>
              </a:spcAft>
              <a:defRPr sz="950">
                <a:solidFill>
                  <a:srgbClr val="FFFFFF"/>
                </a:solidFill>
              </a:defRPr>
            </a:pPr>
            <a:r>
              <a:t>✔ Reversible payment date alignment</a:t>
            </a:r>
          </a:p>
          <a:p>
            <a:pPr>
              <a:spcAft>
                <a:spcPts val="500"/>
              </a:spcAft>
              <a:defRPr sz="950">
                <a:solidFill>
                  <a:srgbClr val="FFFFFF"/>
                </a:solidFill>
              </a:defRPr>
            </a:pPr>
            <a:r>
              <a:t>✔ Late-fee waivers within policy limits</a:t>
            </a:r>
          </a:p>
          <a:p>
            <a:pPr>
              <a:spcAft>
                <a:spcPts val="500"/>
              </a:spcAft>
              <a:defRPr sz="950">
                <a:solidFill>
                  <a:srgbClr val="FFFFFF"/>
                </a:solidFill>
              </a:defRPr>
            </a:pPr>
            <a:r>
              <a:t>✔ Budgeting insights &amp; SMS reminders</a:t>
            </a:r>
          </a:p>
          <a:p>
            <a:pPr>
              <a:spcAft>
                <a:spcPts val="500"/>
              </a:spcAft>
              <a:defRPr sz="950">
                <a:solidFill>
                  <a:srgbClr val="FFFFFF"/>
                </a:solidFill>
              </a:defRPr>
            </a:pPr>
            <a:r>
              <a:t>✔ Continuous recovery telemetry</a:t>
            </a:r>
          </a:p>
          <a:p>
            <a:br/>
            <a:pPr>
              <a:defRPr sz="900" i="1">
                <a:solidFill>
                  <a:srgbClr val="9CA3AF"/>
                </a:solidFill>
              </a:defRPr>
            </a:pPr>
            <a:r>
              <a:t>Low-risk, 100% reversible actions with explicit customer consent.</a:t>
            </a:r>
          </a:p>
        </p:txBody>
      </p:sp>
      <p:sp>
        <p:nvSpPr>
          <p:cNvPr id="8" name="Rounded Rectangle 7"/>
          <p:cNvSpPr/>
          <p:nvPr/>
        </p:nvSpPr>
        <p:spPr>
          <a:xfrm>
            <a:off x="4343400" y="1691640"/>
            <a:ext cx="3474720" cy="4480560"/>
          </a:xfrm>
          <a:prstGeom prst="roundRect">
            <a:avLst/>
          </a:prstGeom>
          <a:solidFill>
            <a:srgbClr val="121C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828800"/>
            <a:ext cx="3108960" cy="4206240"/>
          </a:xfrm>
          <a:prstGeom prst="rect">
            <a:avLst/>
          </a:prstGeom>
          <a:noFill/>
        </p:spPr>
        <p:txBody>
          <a:bodyPr wrap="square">
            <a:spAutoFit/>
          </a:bodyPr>
          <a:lstStyle/>
          <a:p>
            <a:pPr>
              <a:spcAft>
                <a:spcPts val="1200"/>
              </a:spcAft>
              <a:defRPr sz="1100" b="1">
                <a:solidFill>
                  <a:srgbClr val="F59E0B"/>
                </a:solidFill>
              </a:defRPr>
            </a:pPr>
            <a:r>
              <a:t>TIER B: AI PREPARES, HUMAN APPROVES</a:t>
            </a:r>
          </a:p>
          <a:p>
            <a:pPr>
              <a:spcAft>
                <a:spcPts val="500"/>
              </a:spcAft>
              <a:defRPr sz="950">
                <a:solidFill>
                  <a:srgbClr val="FFFFFF"/>
                </a:solidFill>
              </a:defRPr>
            </a:pPr>
            <a:r>
              <a:t>⚡ Temporary EMI moratorium (1-3 mos)</a:t>
            </a:r>
          </a:p>
          <a:p>
            <a:pPr>
              <a:spcAft>
                <a:spcPts val="500"/>
              </a:spcAft>
              <a:defRPr sz="950">
                <a:solidFill>
                  <a:srgbClr val="FFFFFF"/>
                </a:solidFill>
              </a:defRPr>
            </a:pPr>
            <a:r>
              <a:t>⚡ Grace period activations</a:t>
            </a:r>
          </a:p>
          <a:p>
            <a:pPr>
              <a:spcAft>
                <a:spcPts val="500"/>
              </a:spcAft>
              <a:defRPr sz="950">
                <a:solidFill>
                  <a:srgbClr val="FFFFFF"/>
                </a:solidFill>
              </a:defRPr>
            </a:pPr>
            <a:r>
              <a:t>⚡ Tenor extension proposals</a:t>
            </a:r>
          </a:p>
          <a:p>
            <a:pPr>
              <a:spcAft>
                <a:spcPts val="500"/>
              </a:spcAft>
              <a:defRPr sz="950">
                <a:solidFill>
                  <a:srgbClr val="FFFFFF"/>
                </a:solidFill>
              </a:defRPr>
            </a:pPr>
            <a:r>
              <a:t>⚡ Interest rate concession packaging</a:t>
            </a:r>
          </a:p>
          <a:p>
            <a:pPr>
              <a:spcAft>
                <a:spcPts val="500"/>
              </a:spcAft>
              <a:defRPr sz="950">
                <a:solidFill>
                  <a:srgbClr val="FFFFFF"/>
                </a:solidFill>
              </a:defRPr>
            </a:pPr>
            <a:r>
              <a:t>⚡ Comprehensive hardship case dossier</a:t>
            </a:r>
          </a:p>
          <a:p>
            <a:pPr>
              <a:spcAft>
                <a:spcPts val="500"/>
              </a:spcAft>
              <a:defRPr sz="950">
                <a:solidFill>
                  <a:srgbClr val="FFFFFF"/>
                </a:solidFill>
              </a:defRPr>
            </a:pPr>
            <a:r>
              <a:t>⚡ Simulated outcome impact analysis</a:t>
            </a:r>
          </a:p>
          <a:p>
            <a:br/>
            <a:pPr>
              <a:defRPr sz="900" i="1">
                <a:solidFill>
                  <a:srgbClr val="9CA3AF"/>
                </a:solidFill>
              </a:defRPr>
            </a:pPr>
            <a:r>
              <a:t>Moderate financial changes; AI structures the proposal for loan officer sign-off.</a:t>
            </a:r>
          </a:p>
        </p:txBody>
      </p:sp>
      <p:sp>
        <p:nvSpPr>
          <p:cNvPr id="10" name="Rounded Rectangle 9"/>
          <p:cNvSpPr/>
          <p:nvPr/>
        </p:nvSpPr>
        <p:spPr>
          <a:xfrm>
            <a:off x="7955280" y="1691640"/>
            <a:ext cx="3474720" cy="4480560"/>
          </a:xfrm>
          <a:prstGeom prst="roundRect">
            <a:avLst/>
          </a:prstGeom>
          <a:solidFill>
            <a:srgbClr val="121C3A"/>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828800"/>
            <a:ext cx="3108960" cy="4206240"/>
          </a:xfrm>
          <a:prstGeom prst="rect">
            <a:avLst/>
          </a:prstGeom>
          <a:noFill/>
        </p:spPr>
        <p:txBody>
          <a:bodyPr wrap="square">
            <a:spAutoFit/>
          </a:bodyPr>
          <a:lstStyle/>
          <a:p>
            <a:pPr>
              <a:spcAft>
                <a:spcPts val="1200"/>
              </a:spcAft>
              <a:defRPr sz="1100" b="1">
                <a:solidFill>
                  <a:srgbClr val="F43F5E"/>
                </a:solidFill>
              </a:defRPr>
            </a:pPr>
            <a:r>
              <a:t>TIER C: HUMAN ONLY (AI STRICTLY FORBIDDEN)</a:t>
            </a:r>
          </a:p>
          <a:p>
            <a:pPr>
              <a:spcAft>
                <a:spcPts val="500"/>
              </a:spcAft>
              <a:defRPr sz="950">
                <a:solidFill>
                  <a:srgbClr val="FFFFFF"/>
                </a:solidFill>
              </a:defRPr>
            </a:pPr>
            <a:r>
              <a:t>✖ Denying banking services or credit</a:t>
            </a:r>
          </a:p>
          <a:p>
            <a:pPr>
              <a:spcAft>
                <a:spcPts val="500"/>
              </a:spcAft>
              <a:defRPr sz="950">
                <a:solidFill>
                  <a:srgbClr val="FFFFFF"/>
                </a:solidFill>
              </a:defRPr>
            </a:pPr>
            <a:r>
              <a:t>✖ Involuntary loan restructuring</a:t>
            </a:r>
          </a:p>
          <a:p>
            <a:pPr>
              <a:spcAft>
                <a:spcPts val="500"/>
              </a:spcAft>
              <a:defRPr sz="950">
                <a:solidFill>
                  <a:srgbClr val="FFFFFF"/>
                </a:solidFill>
              </a:defRPr>
            </a:pPr>
            <a:r>
              <a:t>✖ Adverse credit bureau reporting</a:t>
            </a:r>
          </a:p>
          <a:p>
            <a:pPr>
              <a:spcAft>
                <a:spcPts val="500"/>
              </a:spcAft>
              <a:defRPr sz="950">
                <a:solidFill>
                  <a:srgbClr val="FFFFFF"/>
                </a:solidFill>
              </a:defRPr>
            </a:pPr>
            <a:r>
              <a:t>✖ Legal enforcement or repossession</a:t>
            </a:r>
          </a:p>
          <a:p>
            <a:pPr>
              <a:spcAft>
                <a:spcPts val="500"/>
              </a:spcAft>
              <a:defRPr sz="950">
                <a:solidFill>
                  <a:srgbClr val="FFFFFF"/>
                </a:solidFill>
              </a:defRPr>
            </a:pPr>
            <a:r>
              <a:t>✖ Forcing customers into any intervention</a:t>
            </a:r>
          </a:p>
          <a:p>
            <a:pPr>
              <a:spcAft>
                <a:spcPts val="500"/>
              </a:spcAft>
              <a:defRPr sz="950">
                <a:solidFill>
                  <a:srgbClr val="FFFFFF"/>
                </a:solidFill>
              </a:defRPr>
            </a:pPr>
            <a:r>
              <a:t>✖ Unilateral contractual alterations</a:t>
            </a:r>
          </a:p>
          <a:p>
            <a:br/>
            <a:pPr>
              <a:defRPr sz="900" i="1">
                <a:solidFill>
                  <a:srgbClr val="9CA3AF"/>
                </a:solidFill>
              </a:defRPr>
            </a:pPr>
            <a:r>
              <a:t>High-impact legal &amp; contractual decisions remain 100% human-controlled.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000" b="1">
                <a:solidFill>
                  <a:srgbClr val="00F0FF"/>
                </a:solidFill>
                <a:latin typeface="Segoe UI"/>
              </a:defRPr>
            </a:pPr>
            <a:r>
              <a:t>THE KEY INNOVATION</a:t>
            </a:r>
          </a:p>
        </p:txBody>
      </p:sp>
      <p:sp>
        <p:nvSpPr>
          <p:cNvPr id="4" name="TextBox 3"/>
          <p:cNvSpPr txBox="1"/>
          <p:nvPr/>
        </p:nvSpPr>
        <p:spPr>
          <a:xfrm>
            <a:off x="731520" y="713232"/>
            <a:ext cx="10698480" cy="548640"/>
          </a:xfrm>
          <a:prstGeom prst="rect">
            <a:avLst/>
          </a:prstGeom>
          <a:noFill/>
        </p:spPr>
        <p:txBody>
          <a:bodyPr wrap="square" lIns="0" tIns="0" rIns="0" bIns="0">
            <a:spAutoFit/>
          </a:bodyPr>
          <a:lstStyle/>
          <a:p>
            <a:pPr>
              <a:defRPr sz="2200" b="1">
                <a:solidFill>
                  <a:srgbClr val="FFFFFF"/>
                </a:solidFill>
                <a:latin typeface="Segoe UI"/>
              </a:defRPr>
            </a:pPr>
            <a:r>
              <a:t>The 'WOW' Moment: Rejecting Unsafe Recommendations</a:t>
            </a:r>
          </a:p>
        </p:txBody>
      </p:sp>
      <p:sp>
        <p:nvSpPr>
          <p:cNvPr id="5" name="TextBox 4"/>
          <p:cNvSpPr txBox="1"/>
          <p:nvPr/>
        </p:nvSpPr>
        <p:spPr>
          <a:xfrm>
            <a:off x="731520" y="1261872"/>
            <a:ext cx="10698480" cy="320040"/>
          </a:xfrm>
          <a:prstGeom prst="rect">
            <a:avLst/>
          </a:prstGeom>
          <a:noFill/>
        </p:spPr>
        <p:txBody>
          <a:bodyPr wrap="square" lIns="0" tIns="0" rIns="0" bIns="0">
            <a:spAutoFit/>
          </a:bodyPr>
          <a:lstStyle/>
          <a:p>
            <a:pPr>
              <a:defRPr sz="1100">
                <a:solidFill>
                  <a:srgbClr val="9CA3AF"/>
                </a:solidFill>
                <a:latin typeface="Segoe UI"/>
              </a:defRPr>
            </a:pPr>
            <a:r>
              <a:t>FinShield doesn't just generate recommendations. It actively detects and rejects its own unsafe options.</a:t>
            </a:r>
          </a:p>
        </p:txBody>
      </p:sp>
      <p:sp>
        <p:nvSpPr>
          <p:cNvPr id="6" name="Rounded Rectangle 5"/>
          <p:cNvSpPr/>
          <p:nvPr/>
        </p:nvSpPr>
        <p:spPr>
          <a:xfrm>
            <a:off x="731520" y="1691640"/>
            <a:ext cx="5212080" cy="4480560"/>
          </a:xfrm>
          <a:prstGeom prst="roundRect">
            <a:avLst/>
          </a:prstGeom>
          <a:solidFill>
            <a:srgbClr val="121C3A"/>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4754880" cy="4114800"/>
          </a:xfrm>
          <a:prstGeom prst="rect">
            <a:avLst/>
          </a:prstGeom>
          <a:noFill/>
        </p:spPr>
        <p:txBody>
          <a:bodyPr wrap="square">
            <a:spAutoFit/>
          </a:bodyPr>
          <a:lstStyle/>
          <a:p>
            <a:pPr>
              <a:spcAft>
                <a:spcPts val="800"/>
              </a:spcAft>
              <a:defRPr sz="1200" b="1">
                <a:solidFill>
                  <a:srgbClr val="FFFFFF"/>
                </a:solidFill>
              </a:defRPr>
            </a:pPr>
            <a:r>
              <a:t>PROPOSED: DEBT CONSOLIDATION LOAN</a:t>
            </a:r>
          </a:p>
          <a:p>
            <a:pPr>
              <a:spcAft>
                <a:spcPts val="1200"/>
              </a:spcAft>
              <a:defRPr sz="1300" b="1">
                <a:solidFill>
                  <a:srgbClr val="F43F5E"/>
                </a:solidFill>
              </a:defRPr>
            </a:pPr>
            <a:r>
              <a:t>❌ REJECTED BY FINSHIELD SAFETY ENGINE</a:t>
            </a:r>
          </a:p>
          <a:p>
            <a:pPr>
              <a:spcAft>
                <a:spcPts val="600"/>
              </a:spcAft>
              <a:defRPr sz="1000" b="0">
                <a:solidFill>
                  <a:srgbClr val="9CA3AF"/>
                </a:solidFill>
              </a:defRPr>
            </a:pPr>
            <a:r>
              <a:t>• Customer Profile: Debt Overload Archetype (DTI = 72%, Savings = 0.4 months)</a:t>
            </a:r>
          </a:p>
          <a:p>
            <a:pPr>
              <a:spcAft>
                <a:spcPts val="600"/>
              </a:spcAft>
              <a:defRPr sz="1000" b="0">
                <a:solidFill>
                  <a:srgbClr val="9CA3AF"/>
                </a:solidFill>
              </a:defRPr>
            </a:pPr>
            <a:r>
              <a:t>• Hard Constraint Violated: Rule SC-402: Cannot add/extend debt for borrowers with DTI &gt; 65%</a:t>
            </a:r>
          </a:p>
          <a:p>
            <a:pPr>
              <a:spcAft>
                <a:spcPts val="600"/>
              </a:spcAft>
              <a:defRPr sz="1000" b="0">
                <a:solidFill>
                  <a:srgbClr val="9CA3AF"/>
                </a:solidFill>
              </a:defRPr>
            </a:pPr>
            <a:r>
              <a:t>• Safety Audit Finding: Consolidation would increase total lifetime interest by ₹84,000 and extend repayment duration without solving underlying cash deficit.</a:t>
            </a:r>
          </a:p>
          <a:p>
            <a:pPr>
              <a:spcAft>
                <a:spcPts val="600"/>
              </a:spcAft>
              <a:defRPr sz="1000" b="0">
                <a:solidFill>
                  <a:srgbClr val="9CA3AF"/>
                </a:solidFill>
              </a:defRPr>
            </a:pPr>
            <a:r>
              <a:t>• System Action: Option permanently pruned from candidate set &amp; logged to compliance audit trail.</a:t>
            </a:r>
          </a:p>
        </p:txBody>
      </p:sp>
      <p:sp>
        <p:nvSpPr>
          <p:cNvPr id="8" name="Rounded Rectangle 7"/>
          <p:cNvSpPr/>
          <p:nvPr/>
        </p:nvSpPr>
        <p:spPr>
          <a:xfrm>
            <a:off x="6217920" y="1691640"/>
            <a:ext cx="5212080" cy="4480560"/>
          </a:xfrm>
          <a:prstGeom prst="roundRect">
            <a:avLst/>
          </a:prstGeom>
          <a:solidFill>
            <a:srgbClr val="121C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74519"/>
            <a:ext cx="4754880" cy="4114800"/>
          </a:xfrm>
          <a:prstGeom prst="rect">
            <a:avLst/>
          </a:prstGeom>
          <a:noFill/>
        </p:spPr>
        <p:txBody>
          <a:bodyPr wrap="square">
            <a:spAutoFit/>
          </a:bodyPr>
          <a:lstStyle/>
          <a:p>
            <a:pPr>
              <a:spcAft>
                <a:spcPts val="800"/>
              </a:spcAft>
              <a:defRPr sz="1200" b="1">
                <a:solidFill>
                  <a:srgbClr val="FFFFFF"/>
                </a:solidFill>
              </a:defRPr>
            </a:pPr>
            <a:r>
              <a:t>SAFETY-FILTERED &amp; RANKED ALTERNATIVE</a:t>
            </a:r>
          </a:p>
          <a:p>
            <a:pPr>
              <a:spcAft>
                <a:spcPts val="1200"/>
              </a:spcAft>
              <a:defRPr sz="1300" b="1">
                <a:solidFill>
                  <a:srgbClr val="10B981"/>
                </a:solidFill>
              </a:defRPr>
            </a:pPr>
            <a:r>
              <a:t>✔ APPROVED: 2-STEP RECOVERY BUNDLE</a:t>
            </a:r>
          </a:p>
          <a:p>
            <a:pPr>
              <a:spcAft>
                <a:spcPts val="600"/>
              </a:spcAft>
              <a:defRPr sz="1000" b="0">
                <a:solidFill>
                  <a:srgbClr val="FFFFFF"/>
                </a:solidFill>
              </a:defRPr>
            </a:pPr>
            <a:r>
              <a:t>★ Step 1: Payment-Date Sync (Level 2): Shift EMI due date from 1st to 7th (post-salary credit). Eliminates repeated ₹500 overdraft fees immediately.</a:t>
            </a:r>
          </a:p>
          <a:p>
            <a:pPr>
              <a:spcAft>
                <a:spcPts val="600"/>
              </a:spcAft>
              <a:defRPr sz="1000" b="0">
                <a:solidFill>
                  <a:srgbClr val="FFFFFF"/>
                </a:solidFill>
              </a:defRPr>
            </a:pPr>
            <a:r>
              <a:t>★ Step 2: Temporary EMI Reduction (Level 4): Reduce monthly EMI from ₹25,000 to sustainable capacity floor of ₹15,000 for 3 months.</a:t>
            </a:r>
          </a:p>
          <a:p>
            <a:pPr>
              <a:spcAft>
                <a:spcPts val="600"/>
              </a:spcAft>
              <a:defRPr sz="1000" b="0">
                <a:solidFill>
                  <a:srgbClr val="FFFFFF"/>
                </a:solidFill>
              </a:defRPr>
            </a:pPr>
            <a:r>
              <a:t>★ Net Outcome for Customer: Instant cash-flow breathing room without taking on additional debt.</a:t>
            </a:r>
          </a:p>
          <a:p>
            <a:pPr>
              <a:spcAft>
                <a:spcPts val="600"/>
              </a:spcAft>
              <a:defRPr sz="1000" b="0">
                <a:solidFill>
                  <a:srgbClr val="FFFFFF"/>
                </a:solidFill>
              </a:defRPr>
            </a:pPr>
            <a:r>
              <a:t>★ Net Outcome for Bank: Cures arrears, prevents default write-off, maintains customer goodwill.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000" b="1">
                <a:solidFill>
                  <a:srgbClr val="00F0FF"/>
                </a:solidFill>
                <a:latin typeface="Segoe UI"/>
              </a:defRPr>
            </a:pPr>
            <a:r>
              <a:t>USER EXPERIENCE</a:t>
            </a:r>
          </a:p>
        </p:txBody>
      </p:sp>
      <p:sp>
        <p:nvSpPr>
          <p:cNvPr id="4" name="TextBox 3"/>
          <p:cNvSpPr txBox="1"/>
          <p:nvPr/>
        </p:nvSpPr>
        <p:spPr>
          <a:xfrm>
            <a:off x="731520" y="713232"/>
            <a:ext cx="10698480" cy="548640"/>
          </a:xfrm>
          <a:prstGeom prst="rect">
            <a:avLst/>
          </a:prstGeom>
          <a:noFill/>
        </p:spPr>
        <p:txBody>
          <a:bodyPr wrap="square" lIns="0" tIns="0" rIns="0" bIns="0">
            <a:spAutoFit/>
          </a:bodyPr>
          <a:lstStyle/>
          <a:p>
            <a:pPr>
              <a:defRPr sz="2200" b="1">
                <a:solidFill>
                  <a:srgbClr val="FFFFFF"/>
                </a:solidFill>
                <a:latin typeface="Segoe UI"/>
              </a:defRPr>
            </a:pPr>
            <a:r>
              <a:t>Customer Journey: How Priya (Age 34) Experiences FinShield</a:t>
            </a:r>
          </a:p>
        </p:txBody>
      </p:sp>
      <p:sp>
        <p:nvSpPr>
          <p:cNvPr id="5" name="TextBox 4"/>
          <p:cNvSpPr txBox="1"/>
          <p:nvPr/>
        </p:nvSpPr>
        <p:spPr>
          <a:xfrm>
            <a:off x="731520" y="1261872"/>
            <a:ext cx="10698480" cy="320040"/>
          </a:xfrm>
          <a:prstGeom prst="rect">
            <a:avLst/>
          </a:prstGeom>
          <a:noFill/>
        </p:spPr>
        <p:txBody>
          <a:bodyPr wrap="square" lIns="0" tIns="0" rIns="0" bIns="0">
            <a:spAutoFit/>
          </a:bodyPr>
          <a:lstStyle/>
          <a:p>
            <a:pPr>
              <a:defRPr sz="1100">
                <a:solidFill>
                  <a:srgbClr val="9CA3AF"/>
                </a:solidFill>
                <a:latin typeface="Segoe UI"/>
              </a:defRPr>
            </a:pPr>
            <a:r>
              <a:t>An empathetic, transparent mobile flow that restores customer dignity and control.</a:t>
            </a:r>
          </a:p>
        </p:txBody>
      </p:sp>
      <p:sp>
        <p:nvSpPr>
          <p:cNvPr id="6" name="Rounded Rectangle 5"/>
          <p:cNvSpPr/>
          <p:nvPr/>
        </p:nvSpPr>
        <p:spPr>
          <a:xfrm>
            <a:off x="731520" y="1691640"/>
            <a:ext cx="2560320" cy="44805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2286000" cy="4206240"/>
          </a:xfrm>
          <a:prstGeom prst="rect">
            <a:avLst/>
          </a:prstGeom>
          <a:noFill/>
        </p:spPr>
        <p:txBody>
          <a:bodyPr wrap="square">
            <a:spAutoFit/>
          </a:bodyPr>
          <a:lstStyle/>
          <a:p>
            <a:pPr>
              <a:defRPr sz="1050" b="1">
                <a:solidFill>
                  <a:srgbClr val="3A86FF"/>
                </a:solidFill>
              </a:defRPr>
            </a:pPr>
            <a:r>
              <a:t>1. Early Proactive Alert</a:t>
            </a:r>
          </a:p>
          <a:p>
            <a:pPr>
              <a:spcAft>
                <a:spcPts val="800"/>
              </a:spcAft>
              <a:defRPr sz="800" b="1">
                <a:solidFill>
                  <a:srgbClr val="64748B"/>
                </a:solidFill>
              </a:defRPr>
            </a:pPr>
            <a:r>
              <a:t>EMPATHETIC OUTREACH</a:t>
            </a:r>
          </a:p>
          <a:p>
            <a:pPr>
              <a:spcAft>
                <a:spcPts val="400"/>
              </a:spcAft>
              <a:defRPr sz="900">
                <a:solidFill>
                  <a:srgbClr val="FFFFFF"/>
                </a:solidFill>
              </a:defRPr>
            </a:pPr>
            <a:r>
              <a:t>• “Hi Priya, we noticed an unexpected spike in medical expenses this month. Let’s keep your finances stress-free before your next EMI.”</a:t>
            </a:r>
          </a:p>
          <a:p>
            <a:pPr>
              <a:spcAft>
                <a:spcPts val="400"/>
              </a:spcAft>
              <a:defRPr sz="900">
                <a:solidFill>
                  <a:srgbClr val="FFFFFF"/>
                </a:solidFill>
              </a:defRPr>
            </a:pPr>
            <a:r>
              <a:t>• No punitive threats or threatening collection notices.</a:t>
            </a:r>
          </a:p>
        </p:txBody>
      </p:sp>
      <p:sp>
        <p:nvSpPr>
          <p:cNvPr id="8" name="Rounded Rectangle 7"/>
          <p:cNvSpPr/>
          <p:nvPr/>
        </p:nvSpPr>
        <p:spPr>
          <a:xfrm>
            <a:off x="3429000" y="1691640"/>
            <a:ext cx="2560320" cy="44805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1828800"/>
            <a:ext cx="2286000" cy="4206240"/>
          </a:xfrm>
          <a:prstGeom prst="rect">
            <a:avLst/>
          </a:prstGeom>
          <a:noFill/>
        </p:spPr>
        <p:txBody>
          <a:bodyPr wrap="square">
            <a:spAutoFit/>
          </a:bodyPr>
          <a:lstStyle/>
          <a:p>
            <a:pPr>
              <a:defRPr sz="1050" b="1">
                <a:solidFill>
                  <a:srgbClr val="00F0FF"/>
                </a:solidFill>
              </a:defRPr>
            </a:pPr>
            <a:r>
              <a:t>2. Transparent Diagnosis</a:t>
            </a:r>
          </a:p>
          <a:p>
            <a:pPr>
              <a:spcAft>
                <a:spcPts val="800"/>
              </a:spcAft>
              <a:defRPr sz="800" b="1">
                <a:solidFill>
                  <a:srgbClr val="64748B"/>
                </a:solidFill>
              </a:defRPr>
            </a:pPr>
            <a:r>
              <a:t>CLEAR AFFORDABILITY MATH</a:t>
            </a:r>
          </a:p>
          <a:p>
            <a:pPr>
              <a:spcAft>
                <a:spcPts val="400"/>
              </a:spcAft>
              <a:defRPr sz="900">
                <a:solidFill>
                  <a:srgbClr val="FFFFFF"/>
                </a:solidFill>
              </a:defRPr>
            </a:pPr>
            <a:r>
              <a:t>• Expense Shock: 85% confidence</a:t>
            </a:r>
          </a:p>
          <a:p>
            <a:pPr>
              <a:spcAft>
                <a:spcPts val="400"/>
              </a:spcAft>
              <a:defRPr sz="900">
                <a:solidFill>
                  <a:srgbClr val="FFFFFF"/>
                </a:solidFill>
              </a:defRPr>
            </a:pPr>
            <a:r>
              <a:t>• Current Obligations: ₹25,000/mo</a:t>
            </a:r>
          </a:p>
          <a:p>
            <a:pPr>
              <a:spcAft>
                <a:spcPts val="400"/>
              </a:spcAft>
              <a:defRPr sz="900">
                <a:solidFill>
                  <a:srgbClr val="FFFFFF"/>
                </a:solidFill>
              </a:defRPr>
            </a:pPr>
            <a:r>
              <a:t>• Calculated Sustainable Floor: ₹15,000/mo</a:t>
            </a:r>
          </a:p>
          <a:p>
            <a:pPr>
              <a:spcAft>
                <a:spcPts val="400"/>
              </a:spcAft>
              <a:defRPr sz="900">
                <a:solidFill>
                  <a:srgbClr val="FFFFFF"/>
                </a:solidFill>
              </a:defRPr>
            </a:pPr>
            <a:r>
              <a:t>• Displays visual breakdown of essential vs debt obligations.</a:t>
            </a:r>
          </a:p>
        </p:txBody>
      </p:sp>
      <p:sp>
        <p:nvSpPr>
          <p:cNvPr id="10" name="Rounded Rectangle 9"/>
          <p:cNvSpPr/>
          <p:nvPr/>
        </p:nvSpPr>
        <p:spPr>
          <a:xfrm>
            <a:off x="6126480" y="1691640"/>
            <a:ext cx="2560320" cy="44805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828800"/>
            <a:ext cx="2286000" cy="4206240"/>
          </a:xfrm>
          <a:prstGeom prst="rect">
            <a:avLst/>
          </a:prstGeom>
          <a:noFill/>
        </p:spPr>
        <p:txBody>
          <a:bodyPr wrap="square">
            <a:spAutoFit/>
          </a:bodyPr>
          <a:lstStyle/>
          <a:p>
            <a:pPr>
              <a:defRPr sz="1050" b="1">
                <a:solidFill>
                  <a:srgbClr val="10B981"/>
                </a:solidFill>
              </a:defRPr>
            </a:pPr>
            <a:r>
              <a:t>3. Choice &amp; Comparison</a:t>
            </a:r>
          </a:p>
          <a:p>
            <a:pPr>
              <a:spcAft>
                <a:spcPts val="800"/>
              </a:spcAft>
              <a:defRPr sz="800" b="1">
                <a:solidFill>
                  <a:srgbClr val="64748B"/>
                </a:solidFill>
              </a:defRPr>
            </a:pPr>
            <a:r>
              <a:t>TAILORED OPTIONS</a:t>
            </a:r>
          </a:p>
          <a:p>
            <a:pPr>
              <a:spcAft>
                <a:spcPts val="400"/>
              </a:spcAft>
              <a:defRPr sz="900">
                <a:solidFill>
                  <a:srgbClr val="FFFFFF"/>
                </a:solidFill>
              </a:defRPr>
            </a:pPr>
            <a:r>
              <a:t>• Option A (Recommended): Due date shift + 3-mo ₹10k EMI reduction.</a:t>
            </a:r>
          </a:p>
          <a:p>
            <a:pPr>
              <a:spcAft>
                <a:spcPts val="400"/>
              </a:spcAft>
              <a:defRPr sz="900">
                <a:solidFill>
                  <a:srgbClr val="FFFFFF"/>
                </a:solidFill>
              </a:defRPr>
            </a:pPr>
            <a:r>
              <a:t>• Option B: 60-day principal pause.</a:t>
            </a:r>
          </a:p>
          <a:p>
            <a:pPr>
              <a:spcAft>
                <a:spcPts val="400"/>
              </a:spcAft>
              <a:defRPr sz="900">
                <a:solidFill>
                  <a:srgbClr val="FFFFFF"/>
                </a:solidFill>
              </a:defRPr>
            </a:pPr>
            <a:r>
              <a:t>• Option C: Connect with Hardship Specialist.</a:t>
            </a:r>
          </a:p>
          <a:p>
            <a:pPr>
              <a:spcAft>
                <a:spcPts val="400"/>
              </a:spcAft>
              <a:defRPr sz="900">
                <a:solidFill>
                  <a:srgbClr val="FFFFFF"/>
                </a:solidFill>
              </a:defRPr>
            </a:pPr>
            <a:r>
              <a:t>• Clear disclosure of trade-offs.</a:t>
            </a:r>
          </a:p>
        </p:txBody>
      </p:sp>
      <p:sp>
        <p:nvSpPr>
          <p:cNvPr id="12" name="Rounded Rectangle 11"/>
          <p:cNvSpPr/>
          <p:nvPr/>
        </p:nvSpPr>
        <p:spPr>
          <a:xfrm>
            <a:off x="8823960" y="1691640"/>
            <a:ext cx="2560320" cy="44805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0" y="1828800"/>
            <a:ext cx="2286000" cy="4206240"/>
          </a:xfrm>
          <a:prstGeom prst="rect">
            <a:avLst/>
          </a:prstGeom>
          <a:noFill/>
        </p:spPr>
        <p:txBody>
          <a:bodyPr wrap="square">
            <a:spAutoFit/>
          </a:bodyPr>
          <a:lstStyle/>
          <a:p>
            <a:pPr>
              <a:defRPr sz="1050" b="1">
                <a:solidFill>
                  <a:srgbClr val="F59E0B"/>
                </a:solidFill>
              </a:defRPr>
            </a:pPr>
            <a:r>
              <a:t>4. Consent &amp; Recovery</a:t>
            </a:r>
          </a:p>
          <a:p>
            <a:pPr>
              <a:spcAft>
                <a:spcPts val="800"/>
              </a:spcAft>
              <a:defRPr sz="800" b="1">
                <a:solidFill>
                  <a:srgbClr val="64748B"/>
                </a:solidFill>
              </a:defRPr>
            </a:pPr>
            <a:r>
              <a:t>REAL-TIME TELEMETRY</a:t>
            </a:r>
          </a:p>
          <a:p>
            <a:pPr>
              <a:spcAft>
                <a:spcPts val="400"/>
              </a:spcAft>
              <a:defRPr sz="900">
                <a:solidFill>
                  <a:srgbClr val="FFFFFF"/>
                </a:solidFill>
              </a:defRPr>
            </a:pPr>
            <a:r>
              <a:t>• Priya selects Option A with 1-click consent.</a:t>
            </a:r>
          </a:p>
          <a:p>
            <a:pPr>
              <a:spcAft>
                <a:spcPts val="400"/>
              </a:spcAft>
              <a:defRPr sz="900">
                <a:solidFill>
                  <a:srgbClr val="FFFFFF"/>
                </a:solidFill>
              </a:defRPr>
            </a:pPr>
            <a:r>
              <a:t>• Tier A date change executes instantly.</a:t>
            </a:r>
          </a:p>
          <a:p>
            <a:pPr>
              <a:spcAft>
                <a:spcPts val="400"/>
              </a:spcAft>
              <a:defRPr sz="900">
                <a:solidFill>
                  <a:srgbClr val="FFFFFF"/>
                </a:solidFill>
              </a:defRPr>
            </a:pPr>
            <a:r>
              <a:t>• Tier B temporary relief approved by officer.</a:t>
            </a:r>
          </a:p>
          <a:p>
            <a:pPr>
              <a:spcAft>
                <a:spcPts val="400"/>
              </a:spcAft>
              <a:defRPr sz="900">
                <a:solidFill>
                  <a:srgbClr val="FFFFFF"/>
                </a:solidFill>
              </a:defRPr>
            </a:pPr>
            <a:r>
              <a:t>• Dynamic tracker monitors financial recovery.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000" b="1">
                <a:solidFill>
                  <a:srgbClr val="00F0FF"/>
                </a:solidFill>
                <a:latin typeface="Segoe UI"/>
              </a:defRPr>
            </a:pPr>
            <a:r>
              <a:t>OPERATIONS &amp; SIMULATION</a:t>
            </a:r>
          </a:p>
        </p:txBody>
      </p:sp>
      <p:sp>
        <p:nvSpPr>
          <p:cNvPr id="4" name="TextBox 3"/>
          <p:cNvSpPr txBox="1"/>
          <p:nvPr/>
        </p:nvSpPr>
        <p:spPr>
          <a:xfrm>
            <a:off x="731520" y="713232"/>
            <a:ext cx="10698480" cy="548640"/>
          </a:xfrm>
          <a:prstGeom prst="rect">
            <a:avLst/>
          </a:prstGeom>
          <a:noFill/>
        </p:spPr>
        <p:txBody>
          <a:bodyPr wrap="square" lIns="0" tIns="0" rIns="0" bIns="0">
            <a:spAutoFit/>
          </a:bodyPr>
          <a:lstStyle/>
          <a:p>
            <a:pPr>
              <a:defRPr sz="2200" b="1">
                <a:solidFill>
                  <a:srgbClr val="FFFFFF"/>
                </a:solidFill>
                <a:latin typeface="Segoe UI"/>
              </a:defRPr>
            </a:pPr>
            <a:r>
              <a:t>Bank Operations Console &amp; What-If Stress Simulator</a:t>
            </a:r>
          </a:p>
        </p:txBody>
      </p:sp>
      <p:sp>
        <p:nvSpPr>
          <p:cNvPr id="5" name="TextBox 4"/>
          <p:cNvSpPr txBox="1"/>
          <p:nvPr/>
        </p:nvSpPr>
        <p:spPr>
          <a:xfrm>
            <a:off x="731520" y="1261872"/>
            <a:ext cx="10698480" cy="320040"/>
          </a:xfrm>
          <a:prstGeom prst="rect">
            <a:avLst/>
          </a:prstGeom>
          <a:noFill/>
        </p:spPr>
        <p:txBody>
          <a:bodyPr wrap="square" lIns="0" tIns="0" rIns="0" bIns="0">
            <a:spAutoFit/>
          </a:bodyPr>
          <a:lstStyle/>
          <a:p>
            <a:pPr>
              <a:defRPr sz="1100">
                <a:solidFill>
                  <a:srgbClr val="9CA3AF"/>
                </a:solidFill>
                <a:latin typeface="Segoe UI"/>
              </a:defRPr>
            </a:pPr>
            <a:r>
              <a:t>Empowering credit officers with portfolio-level telemetry and deterministic what-if projections.</a:t>
            </a:r>
          </a:p>
        </p:txBody>
      </p:sp>
      <p:sp>
        <p:nvSpPr>
          <p:cNvPr id="6" name="Rounded Rectangle 5"/>
          <p:cNvSpPr/>
          <p:nvPr/>
        </p:nvSpPr>
        <p:spPr>
          <a:xfrm>
            <a:off x="731520" y="1691640"/>
            <a:ext cx="5212080" cy="44805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4754880" cy="4114800"/>
          </a:xfrm>
          <a:prstGeom prst="rect">
            <a:avLst/>
          </a:prstGeom>
          <a:noFill/>
        </p:spPr>
        <p:txBody>
          <a:bodyPr wrap="square">
            <a:spAutoFit/>
          </a:bodyPr>
          <a:lstStyle/>
          <a:p>
            <a:pPr>
              <a:spcAft>
                <a:spcPts val="1000"/>
              </a:spcAft>
              <a:defRPr sz="1200" b="1">
                <a:solidFill>
                  <a:srgbClr val="00F0FF"/>
                </a:solidFill>
              </a:defRPr>
            </a:pPr>
            <a:r>
              <a:t>PORTFOLIO OPERATIONS CONSOLE</a:t>
            </a:r>
          </a:p>
          <a:p>
            <a:pPr>
              <a:spcAft>
                <a:spcPts val="600"/>
              </a:spcAft>
              <a:defRPr sz="1000" b="0">
                <a:solidFill>
                  <a:srgbClr val="9CA3AF"/>
                </a:solidFill>
              </a:defRPr>
            </a:pPr>
            <a:r>
              <a:t>✔ Real-Time Triage Queue: Categorizes distressed book by root-cause archetype and urgency.</a:t>
            </a:r>
          </a:p>
          <a:p>
            <a:pPr>
              <a:spcAft>
                <a:spcPts val="600"/>
              </a:spcAft>
              <a:defRPr sz="1000" b="0">
                <a:solidFill>
                  <a:srgbClr val="9CA3AF"/>
                </a:solidFill>
              </a:defRPr>
            </a:pPr>
            <a:r>
              <a:t>✔ Automated vs Officer Queue: Tier A self-resolves; Tier B/C packages served with 1-click officer review.</a:t>
            </a:r>
          </a:p>
          <a:p>
            <a:pPr>
              <a:spcAft>
                <a:spcPts val="600"/>
              </a:spcAft>
              <a:defRPr sz="1000" b="0">
                <a:solidFill>
                  <a:srgbClr val="9CA3AF"/>
                </a:solidFill>
              </a:defRPr>
            </a:pPr>
            <a:r>
              <a:t>✔ SHAP Attribution Inspector: Inspect individual feature weights and historical banking signals.</a:t>
            </a:r>
          </a:p>
          <a:p>
            <a:pPr>
              <a:spcAft>
                <a:spcPts val="600"/>
              </a:spcAft>
              <a:defRPr sz="1000" b="0">
                <a:solidFill>
                  <a:srgbClr val="9CA3AF"/>
                </a:solidFill>
              </a:defRPr>
            </a:pPr>
            <a:r>
              <a:t>✔ Regulatory Compliance Trail: Full event log recording why interventions were selected or rejected.</a:t>
            </a:r>
          </a:p>
        </p:txBody>
      </p:sp>
      <p:sp>
        <p:nvSpPr>
          <p:cNvPr id="8" name="Rounded Rectangle 7"/>
          <p:cNvSpPr/>
          <p:nvPr/>
        </p:nvSpPr>
        <p:spPr>
          <a:xfrm>
            <a:off x="6217920" y="1691640"/>
            <a:ext cx="5212080" cy="448056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74519"/>
            <a:ext cx="4754880" cy="4114800"/>
          </a:xfrm>
          <a:prstGeom prst="rect">
            <a:avLst/>
          </a:prstGeom>
          <a:noFill/>
        </p:spPr>
        <p:txBody>
          <a:bodyPr wrap="square">
            <a:spAutoFit/>
          </a:bodyPr>
          <a:lstStyle/>
          <a:p>
            <a:pPr>
              <a:spcAft>
                <a:spcPts val="1000"/>
              </a:spcAft>
              <a:defRPr sz="1200" b="1">
                <a:solidFill>
                  <a:srgbClr val="10B981"/>
                </a:solidFill>
              </a:defRPr>
            </a:pPr>
            <a:r>
              <a:t>WHAT-IF INTERVENTION SIMULATOR</a:t>
            </a:r>
          </a:p>
          <a:p>
            <a:pPr>
              <a:defRPr sz="950" b="1">
                <a:solidFill>
                  <a:srgbClr val="F59E0B"/>
                </a:solidFill>
              </a:defRPr>
            </a:pPr>
            <a:r>
              <a:t>BEFORE INTERVENTION (CRITICAL STRESS)</a:t>
            </a:r>
          </a:p>
          <a:p>
            <a:pPr>
              <a:defRPr sz="900">
                <a:solidFill>
                  <a:srgbClr val="FFFFFF"/>
                </a:solidFill>
              </a:defRPr>
            </a:pPr>
            <a:r>
              <a:t>  • Monthly Income: ₹60,000 | Current EMI: ₹25,000</a:t>
            </a:r>
          </a:p>
          <a:p>
            <a:pPr>
              <a:defRPr sz="900">
                <a:solidFill>
                  <a:srgbClr val="FFFFFF"/>
                </a:solidFill>
              </a:defRPr>
            </a:pPr>
            <a:r>
              <a:t>  • Sustainable Capacity: ₹15,000 | Deficit: -₹10,000/mo</a:t>
            </a:r>
          </a:p>
          <a:p>
            <a:pPr>
              <a:spcAft>
                <a:spcPts val="600"/>
              </a:spcAft>
              <a:defRPr sz="900">
                <a:solidFill>
                  <a:srgbClr val="FFFFFF"/>
                </a:solidFill>
              </a:defRPr>
            </a:pPr>
            <a:r>
              <a:t>  • Financial Stress Index: 88% (Severe Risk of Default)</a:t>
            </a:r>
          </a:p>
          <a:p>
            <a:pPr>
              <a:defRPr sz="950" b="1">
                <a:solidFill>
                  <a:srgbClr val="10B981"/>
                </a:solidFill>
              </a:defRPr>
            </a:pPr>
            <a:r>
              <a:t>SIMULATED INTERVENTION: 3-MONTH EMI REDUCTION + DUE DATE SHIFT</a:t>
            </a:r>
          </a:p>
          <a:p>
            <a:pPr>
              <a:defRPr sz="900">
                <a:solidFill>
                  <a:srgbClr val="FFFFFF"/>
                </a:solidFill>
              </a:defRPr>
            </a:pPr>
            <a:r>
              <a:t>  • Simulated Monthly EMI: ₹14,500 (Affordable)</a:t>
            </a:r>
          </a:p>
          <a:p>
            <a:pPr>
              <a:defRPr sz="900">
                <a:solidFill>
                  <a:srgbClr val="FFFFFF"/>
                </a:solidFill>
              </a:defRPr>
            </a:pPr>
            <a:r>
              <a:t>  • Projected Cash Flow Surplus: +₹1,500/mo buffer</a:t>
            </a:r>
          </a:p>
          <a:p>
            <a:pPr>
              <a:spcAft>
                <a:spcPts val="600"/>
              </a:spcAft>
              <a:defRPr sz="900">
                <a:solidFill>
                  <a:srgbClr val="FFFFFF"/>
                </a:solidFill>
              </a:defRPr>
            </a:pPr>
            <a:r>
              <a:t>  • Projected Stress Index: 34% (Stable Recovery Zone)</a:t>
            </a:r>
          </a:p>
          <a:p>
            <a:pPr>
              <a:defRPr sz="750" b="1">
                <a:solidFill>
                  <a:srgbClr val="F59E0B"/>
                </a:solidFill>
              </a:defRPr>
            </a:pPr>
            <a:r>
              <a:t>⚠ TRANSPARENCY DISCLAIMER: SIMULATED ESTIMATE — NOT A GUARANTEED OUTCOME. Projections are rule-based feasibility estimates, not causal guarantees.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000" b="1">
                <a:solidFill>
                  <a:srgbClr val="00F0FF"/>
                </a:solidFill>
                <a:latin typeface="Segoe UI"/>
              </a:defRPr>
            </a:pPr>
            <a:r>
              <a:t>IMPLEMENTATION &amp; ENGINEERING</a:t>
            </a:r>
          </a:p>
        </p:txBody>
      </p:sp>
      <p:sp>
        <p:nvSpPr>
          <p:cNvPr id="4" name="TextBox 3"/>
          <p:cNvSpPr txBox="1"/>
          <p:nvPr/>
        </p:nvSpPr>
        <p:spPr>
          <a:xfrm>
            <a:off x="731520" y="713232"/>
            <a:ext cx="10698480" cy="548640"/>
          </a:xfrm>
          <a:prstGeom prst="rect">
            <a:avLst/>
          </a:prstGeom>
          <a:noFill/>
        </p:spPr>
        <p:txBody>
          <a:bodyPr wrap="square" lIns="0" tIns="0" rIns="0" bIns="0">
            <a:spAutoFit/>
          </a:bodyPr>
          <a:lstStyle/>
          <a:p>
            <a:pPr>
              <a:defRPr sz="2200" b="1">
                <a:solidFill>
                  <a:srgbClr val="FFFFFF"/>
                </a:solidFill>
                <a:latin typeface="Segoe UI"/>
              </a:defRPr>
            </a:pPr>
            <a:r>
              <a:t>Technical Architecture &amp; Prototype Methodology</a:t>
            </a:r>
          </a:p>
        </p:txBody>
      </p:sp>
      <p:sp>
        <p:nvSpPr>
          <p:cNvPr id="5" name="TextBox 4"/>
          <p:cNvSpPr txBox="1"/>
          <p:nvPr/>
        </p:nvSpPr>
        <p:spPr>
          <a:xfrm>
            <a:off x="731520" y="1261872"/>
            <a:ext cx="10698480" cy="320040"/>
          </a:xfrm>
          <a:prstGeom prst="rect">
            <a:avLst/>
          </a:prstGeom>
          <a:noFill/>
        </p:spPr>
        <p:txBody>
          <a:bodyPr wrap="square" lIns="0" tIns="0" rIns="0" bIns="0">
            <a:spAutoFit/>
          </a:bodyPr>
          <a:lstStyle/>
          <a:p>
            <a:pPr>
              <a:defRPr sz="1100">
                <a:solidFill>
                  <a:srgbClr val="9CA3AF"/>
                </a:solidFill>
                <a:latin typeface="Segoe UI"/>
              </a:defRPr>
            </a:pPr>
            <a:r>
              <a:t>A high-performance, explainable fintech stack built for rapid deployment and strict compliance.</a:t>
            </a:r>
          </a:p>
        </p:txBody>
      </p:sp>
      <p:sp>
        <p:nvSpPr>
          <p:cNvPr id="6" name="Rounded Rectangle 5"/>
          <p:cNvSpPr/>
          <p:nvPr/>
        </p:nvSpPr>
        <p:spPr>
          <a:xfrm>
            <a:off x="731520" y="1691640"/>
            <a:ext cx="5212080" cy="178308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01368"/>
            <a:ext cx="4846320" cy="1600200"/>
          </a:xfrm>
          <a:prstGeom prst="rect">
            <a:avLst/>
          </a:prstGeom>
          <a:noFill/>
        </p:spPr>
        <p:txBody>
          <a:bodyPr wrap="square">
            <a:spAutoFit/>
          </a:bodyPr>
          <a:lstStyle/>
          <a:p>
            <a:pPr>
              <a:defRPr sz="1100" b="1">
                <a:solidFill>
                  <a:srgbClr val="3A86FF"/>
                </a:solidFill>
              </a:defRPr>
            </a:pPr>
            <a:r>
              <a:t>Frontend &amp; UX</a:t>
            </a:r>
          </a:p>
          <a:p>
            <a:pPr>
              <a:spcAft>
                <a:spcPts val="300"/>
              </a:spcAft>
              <a:defRPr sz="950" b="1">
                <a:solidFill>
                  <a:srgbClr val="FFFFFF"/>
                </a:solidFill>
              </a:defRPr>
            </a:pPr>
            <a:r>
              <a:t>React 19, TailwindCSS, Recharts, Lucide</a:t>
            </a:r>
          </a:p>
          <a:p>
            <a:pPr>
              <a:defRPr sz="900">
                <a:solidFill>
                  <a:srgbClr val="9CA3AF"/>
                </a:solidFill>
              </a:defRPr>
            </a:pPr>
            <a:r>
              <a:t>Responsive portal with mobile-first customer journey, operations dashboard, interactive SHAP visualizations, and What-If simulator.</a:t>
            </a:r>
          </a:p>
        </p:txBody>
      </p:sp>
      <p:sp>
        <p:nvSpPr>
          <p:cNvPr id="8" name="Rounded Rectangle 7"/>
          <p:cNvSpPr/>
          <p:nvPr/>
        </p:nvSpPr>
        <p:spPr>
          <a:xfrm>
            <a:off x="6126480" y="1691640"/>
            <a:ext cx="5212080" cy="178308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801368"/>
            <a:ext cx="4846320" cy="1600200"/>
          </a:xfrm>
          <a:prstGeom prst="rect">
            <a:avLst/>
          </a:prstGeom>
          <a:noFill/>
        </p:spPr>
        <p:txBody>
          <a:bodyPr wrap="square">
            <a:spAutoFit/>
          </a:bodyPr>
          <a:lstStyle/>
          <a:p>
            <a:pPr>
              <a:defRPr sz="1100" b="1">
                <a:solidFill>
                  <a:srgbClr val="00F0FF"/>
                </a:solidFill>
              </a:defRPr>
            </a:pPr>
            <a:r>
              <a:t>Backend &amp; API</a:t>
            </a:r>
          </a:p>
          <a:p>
            <a:pPr>
              <a:spcAft>
                <a:spcPts val="300"/>
              </a:spcAft>
              <a:defRPr sz="950" b="1">
                <a:solidFill>
                  <a:srgbClr val="FFFFFF"/>
                </a:solidFill>
              </a:defRPr>
            </a:pPr>
            <a:r>
              <a:t>FastAPI, Python 3.13, Pydantic v2</a:t>
            </a:r>
          </a:p>
          <a:p>
            <a:pPr>
              <a:defRPr sz="900">
                <a:solidFill>
                  <a:srgbClr val="9CA3AF"/>
                </a:solidFill>
              </a:defRPr>
            </a:pPr>
            <a:r>
              <a:t>Asynchronous REST architecture, sub-50ms rule evaluation, deterministic capacity math engine, and idempotent action executors.</a:t>
            </a:r>
          </a:p>
        </p:txBody>
      </p:sp>
      <p:sp>
        <p:nvSpPr>
          <p:cNvPr id="10" name="Rounded Rectangle 9"/>
          <p:cNvSpPr/>
          <p:nvPr/>
        </p:nvSpPr>
        <p:spPr>
          <a:xfrm>
            <a:off x="731520" y="3611880"/>
            <a:ext cx="5212080" cy="178308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721608"/>
            <a:ext cx="4846320" cy="1600200"/>
          </a:xfrm>
          <a:prstGeom prst="rect">
            <a:avLst/>
          </a:prstGeom>
          <a:noFill/>
        </p:spPr>
        <p:txBody>
          <a:bodyPr wrap="square">
            <a:spAutoFit/>
          </a:bodyPr>
          <a:lstStyle/>
          <a:p>
            <a:pPr>
              <a:defRPr sz="1100" b="1">
                <a:solidFill>
                  <a:srgbClr val="10B981"/>
                </a:solidFill>
              </a:defRPr>
            </a:pPr>
            <a:r>
              <a:t>Machine Learning &amp; XAI</a:t>
            </a:r>
          </a:p>
          <a:p>
            <a:pPr>
              <a:spcAft>
                <a:spcPts val="300"/>
              </a:spcAft>
              <a:defRPr sz="950" b="1">
                <a:solidFill>
                  <a:srgbClr val="FFFFFF"/>
                </a:solidFill>
              </a:defRPr>
            </a:pPr>
            <a:r>
              <a:t>XGBoost, SHAP TreeExplainer, Scikit-Learn</a:t>
            </a:r>
          </a:p>
          <a:p>
            <a:pPr>
              <a:defRPr sz="900">
                <a:solidFill>
                  <a:srgbClr val="9CA3AF"/>
                </a:solidFill>
              </a:defRPr>
            </a:pPr>
            <a:r>
              <a:t>Multi-class distress classifier trained on multi-variate financial time-series. Local SHAP values computed for each diagnosis.</a:t>
            </a:r>
          </a:p>
        </p:txBody>
      </p:sp>
      <p:sp>
        <p:nvSpPr>
          <p:cNvPr id="12" name="Rounded Rectangle 11"/>
          <p:cNvSpPr/>
          <p:nvPr/>
        </p:nvSpPr>
        <p:spPr>
          <a:xfrm>
            <a:off x="6126480" y="3611880"/>
            <a:ext cx="5212080" cy="178308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3721608"/>
            <a:ext cx="4846320" cy="1600200"/>
          </a:xfrm>
          <a:prstGeom prst="rect">
            <a:avLst/>
          </a:prstGeom>
          <a:noFill/>
        </p:spPr>
        <p:txBody>
          <a:bodyPr wrap="square">
            <a:spAutoFit/>
          </a:bodyPr>
          <a:lstStyle/>
          <a:p>
            <a:pPr>
              <a:defRPr sz="1100" b="1">
                <a:solidFill>
                  <a:srgbClr val="A855F7"/>
                </a:solidFill>
              </a:defRPr>
            </a:pPr>
            <a:r>
              <a:t>LLM &amp; Data Infrastructure</a:t>
            </a:r>
          </a:p>
          <a:p>
            <a:pPr>
              <a:spcAft>
                <a:spcPts val="300"/>
              </a:spcAft>
              <a:defRPr sz="950" b="1">
                <a:solidFill>
                  <a:srgbClr val="FFFFFF"/>
                </a:solidFill>
              </a:defRPr>
            </a:pPr>
            <a:r>
              <a:t>Claude 3.5 Sonnet API, PostgreSQL</a:t>
            </a:r>
          </a:p>
          <a:p>
            <a:pPr>
              <a:defRPr sz="900">
                <a:solidFill>
                  <a:srgbClr val="9CA3AF"/>
                </a:solidFill>
              </a:defRPr>
            </a:pPr>
            <a:r>
              <a:t>Generates natural language customer coaching and officer hardship dossiers. PostgreSQL event store for immutable compliance audit logs.</a:t>
            </a:r>
          </a:p>
        </p:txBody>
      </p:sp>
      <p:sp>
        <p:nvSpPr>
          <p:cNvPr id="14" name="Rounded Rectangle 13"/>
          <p:cNvSpPr/>
          <p:nvPr/>
        </p:nvSpPr>
        <p:spPr>
          <a:xfrm>
            <a:off x="731520" y="5623560"/>
            <a:ext cx="10725912" cy="640080"/>
          </a:xfrm>
          <a:prstGeom prst="roundRect">
            <a:avLst/>
          </a:prstGeom>
          <a:solidFill>
            <a:srgbClr val="121C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50992"/>
            <a:ext cx="10424160" cy="548640"/>
          </a:xfrm>
          <a:prstGeom prst="rect">
            <a:avLst/>
          </a:prstGeom>
          <a:noFill/>
        </p:spPr>
        <p:txBody>
          <a:bodyPr wrap="square">
            <a:spAutoFit/>
          </a:bodyPr>
          <a:lstStyle/>
          <a:p>
            <a:pPr>
              <a:defRPr sz="900" b="0">
                <a:solidFill>
                  <a:srgbClr val="9CA3AF"/>
                </a:solidFill>
              </a:defRPr>
            </a:pPr>
            <a:r>
              <a:t>★ DATASET TRANSPARENCY: Our hackathon prototype is validated on a rigorously engineered synthetic time-series dataset modeling 5 distress archetypes with realistic income, expense, and payment shocks. We do not claim validation on proprietary live bank production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000" b="1">
                <a:solidFill>
                  <a:srgbClr val="00F0FF"/>
                </a:solidFill>
                <a:latin typeface="Segoe UI"/>
              </a:defRPr>
            </a:pPr>
            <a:r>
              <a:t>STRATEGIC IMPACT &amp; CLOSING</a:t>
            </a:r>
          </a:p>
        </p:txBody>
      </p:sp>
      <p:sp>
        <p:nvSpPr>
          <p:cNvPr id="4" name="TextBox 3"/>
          <p:cNvSpPr txBox="1"/>
          <p:nvPr/>
        </p:nvSpPr>
        <p:spPr>
          <a:xfrm>
            <a:off x="731520" y="713232"/>
            <a:ext cx="10698480" cy="548640"/>
          </a:xfrm>
          <a:prstGeom prst="rect">
            <a:avLst/>
          </a:prstGeom>
          <a:noFill/>
        </p:spPr>
        <p:txBody>
          <a:bodyPr wrap="square" lIns="0" tIns="0" rIns="0" bIns="0">
            <a:spAutoFit/>
          </a:bodyPr>
          <a:lstStyle/>
          <a:p>
            <a:pPr>
              <a:defRPr sz="2200" b="1">
                <a:solidFill>
                  <a:srgbClr val="FFFFFF"/>
                </a:solidFill>
                <a:latin typeface="Segoe UI"/>
              </a:defRPr>
            </a:pPr>
            <a:r>
              <a:t>The Paradigm Shift: From Detection to Safe Resolution</a:t>
            </a:r>
          </a:p>
        </p:txBody>
      </p:sp>
      <p:sp>
        <p:nvSpPr>
          <p:cNvPr id="5" name="TextBox 4"/>
          <p:cNvSpPr txBox="1"/>
          <p:nvPr/>
        </p:nvSpPr>
        <p:spPr>
          <a:xfrm>
            <a:off x="731520" y="1261872"/>
            <a:ext cx="10698480" cy="320040"/>
          </a:xfrm>
          <a:prstGeom prst="rect">
            <a:avLst/>
          </a:prstGeom>
          <a:noFill/>
        </p:spPr>
        <p:txBody>
          <a:bodyPr wrap="square" lIns="0" tIns="0" rIns="0" bIns="0">
            <a:spAutoFit/>
          </a:bodyPr>
          <a:lstStyle/>
          <a:p>
            <a:pPr>
              <a:defRPr sz="1100">
                <a:solidFill>
                  <a:srgbClr val="9CA3AF"/>
                </a:solidFill>
                <a:latin typeface="Segoe UI"/>
              </a:defRPr>
            </a:pPr>
            <a:r>
              <a:t>Don't wait for default to act. Transform credit operations from punitive recovery to proactive care.</a:t>
            </a:r>
          </a:p>
        </p:txBody>
      </p:sp>
      <p:sp>
        <p:nvSpPr>
          <p:cNvPr id="6" name="Rounded Rectangle 5"/>
          <p:cNvSpPr/>
          <p:nvPr/>
        </p:nvSpPr>
        <p:spPr>
          <a:xfrm>
            <a:off x="731520" y="1691640"/>
            <a:ext cx="5212080" cy="329184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846320" cy="3108960"/>
          </a:xfrm>
          <a:prstGeom prst="rect">
            <a:avLst/>
          </a:prstGeom>
          <a:noFill/>
        </p:spPr>
        <p:txBody>
          <a:bodyPr wrap="square">
            <a:spAutoFit/>
          </a:bodyPr>
          <a:lstStyle/>
          <a:p>
            <a:pPr>
              <a:spcAft>
                <a:spcPts val="800"/>
              </a:spcAft>
              <a:defRPr sz="1100" b="1">
                <a:solidFill>
                  <a:srgbClr val="00F0FF"/>
                </a:solidFill>
              </a:defRPr>
            </a:pPr>
            <a:r>
              <a:t>MEASURABLE QUALITATIVE VALUE</a:t>
            </a:r>
          </a:p>
          <a:p>
            <a:pPr>
              <a:spcAft>
                <a:spcPts val="400"/>
              </a:spcAft>
              <a:defRPr sz="950" b="0">
                <a:solidFill>
                  <a:srgbClr val="9CA3AF"/>
                </a:solidFill>
              </a:defRPr>
            </a:pPr>
            <a:r>
              <a:t>✔ For Borrowers: Proactive assistance, realistic affordability, preserved dignity, and avoidance of damaging debt spirals.</a:t>
            </a:r>
          </a:p>
          <a:p>
            <a:pPr>
              <a:spcAft>
                <a:spcPts val="400"/>
              </a:spcAft>
              <a:defRPr sz="950" b="0">
                <a:solidFill>
                  <a:srgbClr val="9CA3AF"/>
                </a:solidFill>
              </a:defRPr>
            </a:pPr>
            <a:r>
              <a:t>✔ For Financial Institutions: Higher cure rates on distressed books, 60% reduction in manual triage time, and automated compliance audit trails.</a:t>
            </a:r>
          </a:p>
          <a:p>
            <a:pPr>
              <a:spcAft>
                <a:spcPts val="400"/>
              </a:spcAft>
              <a:defRPr sz="950" b="0">
                <a:solidFill>
                  <a:srgbClr val="9CA3AF"/>
                </a:solidFill>
              </a:defRPr>
            </a:pPr>
            <a:r>
              <a:t>✔ For Regulators: Guaranteed adherence to fair lending laws, explainable AI decisions, and zero opaque black-box debt traps.</a:t>
            </a:r>
          </a:p>
        </p:txBody>
      </p:sp>
      <p:sp>
        <p:nvSpPr>
          <p:cNvPr id="8" name="Rounded Rectangle 7"/>
          <p:cNvSpPr/>
          <p:nvPr/>
        </p:nvSpPr>
        <p:spPr>
          <a:xfrm>
            <a:off x="6217920" y="1691640"/>
            <a:ext cx="5212080" cy="3291840"/>
          </a:xfrm>
          <a:prstGeom prst="roundRect">
            <a:avLst/>
          </a:prstGeom>
          <a:solidFill>
            <a:srgbClr val="121C3A"/>
          </a:solidFill>
          <a:ln w="19050">
            <a:solidFill>
              <a:srgbClr val="263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46320" cy="3108960"/>
          </a:xfrm>
          <a:prstGeom prst="rect">
            <a:avLst/>
          </a:prstGeom>
          <a:noFill/>
        </p:spPr>
        <p:txBody>
          <a:bodyPr wrap="square">
            <a:spAutoFit/>
          </a:bodyPr>
          <a:lstStyle/>
          <a:p>
            <a:pPr>
              <a:spcAft>
                <a:spcPts val="800"/>
              </a:spcAft>
              <a:defRPr sz="1100" b="1">
                <a:solidFill>
                  <a:srgbClr val="10B981"/>
                </a:solidFill>
              </a:defRPr>
            </a:pPr>
            <a:r>
              <a:t>THE OPERATIONAL PARADIGM SHIFT</a:t>
            </a:r>
          </a:p>
          <a:p>
            <a:pPr>
              <a:spcAft>
                <a:spcPts val="1200"/>
              </a:spcAft>
              <a:defRPr sz="950" b="0">
                <a:solidFill>
                  <a:srgbClr val="9CA3AF"/>
                </a:solidFill>
              </a:defRPr>
            </a:pPr>
            <a:r>
              <a:t>TRADITIONAL MODEL (PUNITIVE &amp; LATE):</a:t>
            </a:r>
            <a:br/>
            <a:r>
              <a:t>Detect (Late)  ➔  Collect (Aggressive)  ➔  Escalate (Default &amp; Loss)</a:t>
            </a:r>
          </a:p>
          <a:p>
            <a:pPr>
              <a:defRPr sz="950" b="0">
                <a:solidFill>
                  <a:srgbClr val="FFFFFF"/>
                </a:solidFill>
              </a:defRPr>
            </a:pPr>
            <a:r>
              <a:t>FINSHIELD MODEL (PREVENTATIVE &amp; SAFE):</a:t>
            </a:r>
            <a:br/>
            <a:r>
              <a:t>Diagnose (Early)  ➔  Intervene (Safely)  ➔  Recover (Sustainable)</a:t>
            </a:r>
          </a:p>
        </p:txBody>
      </p:sp>
      <p:sp>
        <p:nvSpPr>
          <p:cNvPr id="10" name="Rounded Rectangle 9"/>
          <p:cNvSpPr/>
          <p:nvPr/>
        </p:nvSpPr>
        <p:spPr>
          <a:xfrm>
            <a:off x="731520" y="5166360"/>
            <a:ext cx="10725912" cy="1097280"/>
          </a:xfrm>
          <a:prstGeom prst="roundRect">
            <a:avLst/>
          </a:prstGeom>
          <a:solidFill>
            <a:srgbClr val="121C3A"/>
          </a:solidFill>
          <a:ln w="19050">
            <a:solidFill>
              <a:srgbClr val="3A8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212080"/>
            <a:ext cx="10332720" cy="1005840"/>
          </a:xfrm>
          <a:prstGeom prst="rect">
            <a:avLst/>
          </a:prstGeom>
          <a:noFill/>
        </p:spPr>
        <p:txBody>
          <a:bodyPr wrap="square">
            <a:spAutoFit/>
          </a:bodyPr>
          <a:lstStyle/>
          <a:p>
            <a:pPr algn="ctr">
              <a:spcAft>
                <a:spcPts val="400"/>
              </a:spcAft>
              <a:defRPr sz="1400" b="1">
                <a:solidFill>
                  <a:srgbClr val="FFFFFF"/>
                </a:solidFill>
              </a:defRPr>
            </a:pPr>
            <a:r>
              <a:t>“AI doesn't replace human judgment. It makes responsible intervention faster, safer, and more personalized.”</a:t>
            </a:r>
          </a:p>
          <a:p>
            <a:pPr algn="ctr">
              <a:defRPr sz="1000" b="1">
                <a:solidFill>
                  <a:srgbClr val="00F0FF"/>
                </a:solidFill>
              </a:defRPr>
            </a:pPr>
            <a:r>
              <a:t>FINSHIELD  |  DON'T WAIT FOR DEFAULT TO 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